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a:solidFill>
                  <a:srgbClr val="1F2937"/>
                </a:solidFill>
                <a:latin typeface="Calibri"/>
              </a:rPr>
              <a:t>Open with positioning. Nex Order is a generic B2B order-management platform that unifies every channel a distributor sells through — self-serve customers, telesales, field reps, and future EDI partners. What makes it different in 2026 isn't the UI, it's the architecture: one server-side gate makes pricing, promotions, stock, and audit behave identically no matter where the order came from. We'll spend 10 minutes on slides, then move into a live walkthrough on the URL shown at the bottom of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a:solidFill>
                  <a:srgbClr val="1F2937"/>
                </a:solidFill>
                <a:latin typeface="Calibri"/>
              </a:rPr>
              <a:t>Use a call-and-response framing here. Ask the audience: 'Whichever of these three is biggest for you today, raise a hand.' All three have the same root cause — fragmented intake. Phone orders, spreadsheet pricing, and missing audit trails are symptoms of the same architectural gap. Nex Order is the answer: one entry point, one rules engine, one log. Bridge to Slide 3: 'Let me show you how it actually flows.'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a:solidFill>
                  <a:srgbClr val="1F2937"/>
                </a:solidFill>
                <a:latin typeface="Calibri"/>
              </a:rPr>
              <a:t>Walk this slide left to right. Spend 30 seconds per intake channel: self-serve is the customer's phone or laptop; telesales is the office rep keying it in with a call-reference number; field reps capture a customer signature on a tablet; the dashed box is the roadmap — email-in, WhatsApp, EDI — all designed to enter the same gate. The middle column is the architectural moat. Every intake channel hits the same Edge Function. That means pricing, promos, stock checks, and audit are guaranteed identical. The right column is what happens next — a deterministic pipeline that ops teams can rely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a:solidFill>
                  <a:srgbClr val="1F2937"/>
                </a:solidFill>
                <a:latin typeface="Calibri"/>
              </a:rPr>
              <a:t>Don't read the grid. Pick three to spotlight — the ones that match the prospect's biggest pain. For most distributors, lead with Pantry intelligence (it removes 80% of phone time), then Tier pricing &amp; promotions (it stops margin leaks), then Routes (it turns field reps into a controlled channel). Mention Realtime, Audit, and Stock as 'and you also get…'. Bridge to Slide 5: 'Let me actually show you each of the three I just highlighted.'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a:solidFill>
                  <a:srgbClr val="1F2937"/>
                </a:solidFill>
                <a:latin typeface="Calibri"/>
              </a:rPr>
              <a:t>Brief slide — under 30 seconds. Set expectations: three acts, one continuous story. Maya the customer, Charlie the field rep, Alice the admin. The URL is on screen if anyone wants to follow along on their laptop. After the demo, return here for next steps and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640080"/>
            <a:ext cx="54864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77240"/>
            <a:ext cx="5486400" cy="365760"/>
          </a:xfrm>
          <a:prstGeom prst="rect">
            <a:avLst/>
          </a:prstGeom>
          <a:noFill/>
        </p:spPr>
        <p:txBody>
          <a:bodyPr wrap="square" lIns="45720" rIns="45720" tIns="18288" bIns="18288" anchor="t">
            <a:spAutoFit/>
          </a:bodyPr>
          <a:lstStyle/>
          <a:p>
            <a:pPr algn="l">
              <a:spcAft>
                <a:spcPts val="400"/>
              </a:spcAft>
            </a:pPr>
            <a:r>
              <a:rPr sz="1200" b="1">
                <a:solidFill>
                  <a:srgbClr val="0EA5E9"/>
                </a:solidFill>
                <a:latin typeface="Calibri"/>
              </a:rPr>
              <a:t>NEX ORDER</a:t>
            </a:r>
          </a:p>
        </p:txBody>
      </p:sp>
      <p:sp>
        <p:nvSpPr>
          <p:cNvPr id="4" name="TextBox 3"/>
          <p:cNvSpPr txBox="1"/>
          <p:nvPr/>
        </p:nvSpPr>
        <p:spPr>
          <a:xfrm>
            <a:off x="548640" y="1828800"/>
            <a:ext cx="10972800" cy="2286000"/>
          </a:xfrm>
          <a:prstGeom prst="rect">
            <a:avLst/>
          </a:prstGeom>
          <a:noFill/>
        </p:spPr>
        <p:txBody>
          <a:bodyPr wrap="square" lIns="45720" rIns="45720" tIns="18288" bIns="18288" anchor="t">
            <a:spAutoFit/>
          </a:bodyPr>
          <a:lstStyle/>
          <a:p>
            <a:pPr algn="l">
              <a:spcAft>
                <a:spcPts val="1400"/>
              </a:spcAft>
            </a:pPr>
            <a:r>
              <a:rPr sz="4800" b="1">
                <a:solidFill>
                  <a:srgbClr val="1F2937"/>
                </a:solidFill>
                <a:latin typeface="Calibri"/>
              </a:rPr>
              <a:t>One pipeline for every B2B order.</a:t>
            </a:r>
          </a:p>
          <a:p>
            <a:pPr algn="l">
              <a:spcAft>
                <a:spcPts val="0"/>
              </a:spcAft>
            </a:pPr>
            <a:r>
              <a:rPr sz="2000" b="0">
                <a:solidFill>
                  <a:srgbClr val="6B7280"/>
                </a:solidFill>
                <a:latin typeface="Calibri"/>
              </a:rPr>
              <a:t>Multi-channel order intake, tier-aware pricing, route-driven field sales, and a live audit trail. Built for distributors and wholesalers.</a:t>
            </a:r>
          </a:p>
        </p:txBody>
      </p:sp>
      <p:sp>
        <p:nvSpPr>
          <p:cNvPr id="5" name="TextBox 4"/>
          <p:cNvSpPr txBox="1"/>
          <p:nvPr/>
        </p:nvSpPr>
        <p:spPr>
          <a:xfrm>
            <a:off x="548640" y="5120640"/>
            <a:ext cx="10972800" cy="914400"/>
          </a:xfrm>
          <a:prstGeom prst="rect">
            <a:avLst/>
          </a:prstGeom>
          <a:noFill/>
        </p:spPr>
        <p:txBody>
          <a:bodyPr wrap="square" lIns="45720" rIns="45720" tIns="18288" bIns="18288" anchor="t">
            <a:spAutoFit/>
          </a:bodyPr>
          <a:lstStyle/>
          <a:p>
            <a:pPr algn="l">
              <a:spcAft>
                <a:spcPts val="400"/>
              </a:spcAft>
            </a:pPr>
            <a:r>
              <a:rPr sz="1400" b="0">
                <a:solidFill>
                  <a:srgbClr val="1F2937"/>
                </a:solidFill>
                <a:latin typeface="Calibri"/>
              </a:rPr>
              <a:t>Proven on a live distributor deployment running on Supabase + Vercel.</a:t>
            </a:r>
          </a:p>
          <a:p>
            <a:pPr algn="l">
              <a:spcAft>
                <a:spcPts val="400"/>
              </a:spcAft>
            </a:pPr>
            <a:r>
              <a:rPr sz="1200" b="1">
                <a:solidFill>
                  <a:srgbClr val="0EA5E9"/>
                </a:solidFill>
                <a:latin typeface="Calibri"/>
              </a:rPr>
              <a:t>Live demo: nexorder.vercel.app</a:t>
            </a:r>
          </a:p>
        </p:txBody>
      </p:sp>
      <p:sp>
        <p:nvSpPr>
          <p:cNvPr id="6" name="TextBox 5"/>
          <p:cNvSpPr txBox="1"/>
          <p:nvPr/>
        </p:nvSpPr>
        <p:spPr>
          <a:xfrm>
            <a:off x="548640" y="6446520"/>
            <a:ext cx="11064240" cy="320040"/>
          </a:xfrm>
          <a:prstGeom prst="rect">
            <a:avLst/>
          </a:prstGeom>
          <a:noFill/>
        </p:spPr>
        <p:txBody>
          <a:bodyPr wrap="square" lIns="45720" rIns="45720" tIns="18288" bIns="18288" anchor="t">
            <a:spAutoFit/>
          </a:bodyPr>
          <a:lstStyle/>
          <a:p>
            <a:pPr algn="l">
              <a:spcAft>
                <a:spcPts val="400"/>
              </a:spcAft>
            </a:pPr>
            <a:r>
              <a:rPr sz="900" b="0">
                <a:solidFill>
                  <a:srgbClr val="6B7280"/>
                </a:solidFill>
                <a:latin typeface="Calibri"/>
              </a:rPr>
              <a:t>Nex Order   •   Pitch deck   •   Page 1 of 5</a:t>
            </a:r>
          </a:p>
        </p:txBody>
      </p:sp>
      <p:cxnSp>
        <p:nvCxnSpPr>
          <p:cNvPr id="7" name="Connector 6"/>
          <p:cNvCxnSpPr/>
          <p:nvPr/>
        </p:nvCxnSpPr>
        <p:spPr>
          <a:xfrm>
            <a:off x="548640" y="6400800"/>
            <a:ext cx="11064240"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54864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13232"/>
            <a:ext cx="5486400" cy="320040"/>
          </a:xfrm>
          <a:prstGeom prst="rect">
            <a:avLst/>
          </a:prstGeom>
          <a:noFill/>
        </p:spPr>
        <p:txBody>
          <a:bodyPr wrap="square" lIns="45720" rIns="45720" tIns="18288" bIns="18288" anchor="t">
            <a:spAutoFit/>
          </a:bodyPr>
          <a:lstStyle/>
          <a:p>
            <a:pPr algn="l">
              <a:spcAft>
                <a:spcPts val="400"/>
              </a:spcAft>
            </a:pPr>
            <a:r>
              <a:rPr sz="1100" b="1">
                <a:solidFill>
                  <a:srgbClr val="0EA5E9"/>
                </a:solidFill>
                <a:latin typeface="Calibri"/>
              </a:rPr>
              <a:t>THE PROBLEM</a:t>
            </a:r>
          </a:p>
        </p:txBody>
      </p:sp>
      <p:sp>
        <p:nvSpPr>
          <p:cNvPr id="4" name="TextBox 3"/>
          <p:cNvSpPr txBox="1"/>
          <p:nvPr/>
        </p:nvSpPr>
        <p:spPr>
          <a:xfrm>
            <a:off x="548640" y="1097280"/>
            <a:ext cx="11064240" cy="1280160"/>
          </a:xfrm>
          <a:prstGeom prst="rect">
            <a:avLst/>
          </a:prstGeom>
          <a:noFill/>
        </p:spPr>
        <p:txBody>
          <a:bodyPr wrap="square" lIns="45720" rIns="45720" tIns="18288" bIns="18288" anchor="t">
            <a:spAutoFit/>
          </a:bodyPr>
          <a:lstStyle/>
          <a:p>
            <a:pPr algn="l">
              <a:spcAft>
                <a:spcPts val="400"/>
              </a:spcAft>
            </a:pPr>
            <a:r>
              <a:rPr sz="3400" b="1">
                <a:solidFill>
                  <a:srgbClr val="1F2937"/>
                </a:solidFill>
                <a:latin typeface="Calibri"/>
              </a:rPr>
              <a:t>Orders come from everywhere.</a:t>
            </a:r>
          </a:p>
          <a:p>
            <a:pPr algn="l">
              <a:spcAft>
                <a:spcPts val="0"/>
              </a:spcAft>
            </a:pPr>
            <a:r>
              <a:rPr sz="2400" b="0">
                <a:solidFill>
                  <a:srgbClr val="6B7280"/>
                </a:solidFill>
                <a:latin typeface="Calibri"/>
              </a:rPr>
              <a:t>Most ops teams can't see them in one place.</a:t>
            </a:r>
          </a:p>
        </p:txBody>
      </p:sp>
      <p:sp>
        <p:nvSpPr>
          <p:cNvPr id="5" name="Rounded Rectangle 4"/>
          <p:cNvSpPr/>
          <p:nvPr/>
        </p:nvSpPr>
        <p:spPr>
          <a:xfrm>
            <a:off x="548640" y="3108960"/>
            <a:ext cx="3545738" cy="2377440"/>
          </a:xfrm>
          <a:prstGeom prst="roundRect">
            <a:avLst>
              <a:gd name="adj" fmla="val 6000"/>
            </a:avLst>
          </a:prstGeom>
          <a:solidFill>
            <a:srgbClr val="F8FAFC"/>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337560"/>
            <a:ext cx="2997098" cy="1920240"/>
          </a:xfrm>
          <a:prstGeom prst="rect">
            <a:avLst/>
          </a:prstGeom>
          <a:noFill/>
        </p:spPr>
        <p:txBody>
          <a:bodyPr wrap="square" lIns="45720" rIns="45720" tIns="18288" bIns="18288" anchor="t">
            <a:spAutoFit/>
          </a:bodyPr>
          <a:lstStyle/>
          <a:p>
            <a:pPr algn="l">
              <a:spcAft>
                <a:spcPts val="800"/>
              </a:spcAft>
            </a:pPr>
            <a:r>
              <a:rPr sz="1400" b="1">
                <a:solidFill>
                  <a:srgbClr val="0EA5E9"/>
                </a:solidFill>
                <a:latin typeface="Calibri"/>
              </a:rPr>
              <a:t>01</a:t>
            </a:r>
          </a:p>
          <a:p>
            <a:pPr algn="l">
              <a:spcAft>
                <a:spcPts val="800"/>
              </a:spcAft>
            </a:pPr>
            <a:r>
              <a:rPr sz="1800" b="1">
                <a:solidFill>
                  <a:srgbClr val="1F2937"/>
                </a:solidFill>
                <a:latin typeface="Calibri"/>
              </a:rPr>
              <a:t>Phone &amp; WhatsApp chaos</a:t>
            </a:r>
          </a:p>
          <a:p>
            <a:pPr algn="l">
              <a:spcAft>
                <a:spcPts val="0"/>
              </a:spcAft>
            </a:pPr>
            <a:r>
              <a:rPr sz="1200" b="0">
                <a:solidFill>
                  <a:srgbClr val="6B7280"/>
                </a:solidFill>
                <a:latin typeface="Calibri"/>
              </a:rPr>
              <a:t>Orders take 12+ minutes per call. Errors caught after delivery, blame impossible to assign.</a:t>
            </a:r>
          </a:p>
        </p:txBody>
      </p:sp>
      <p:sp>
        <p:nvSpPr>
          <p:cNvPr id="7" name="Rounded Rectangle 6"/>
          <p:cNvSpPr/>
          <p:nvPr/>
        </p:nvSpPr>
        <p:spPr>
          <a:xfrm>
            <a:off x="4322978" y="3108960"/>
            <a:ext cx="3545738" cy="2377440"/>
          </a:xfrm>
          <a:prstGeom prst="roundRect">
            <a:avLst>
              <a:gd name="adj" fmla="val 6000"/>
            </a:avLst>
          </a:prstGeom>
          <a:solidFill>
            <a:srgbClr val="F8FAFC"/>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3337560"/>
            <a:ext cx="2997098" cy="1920240"/>
          </a:xfrm>
          <a:prstGeom prst="rect">
            <a:avLst/>
          </a:prstGeom>
          <a:noFill/>
        </p:spPr>
        <p:txBody>
          <a:bodyPr wrap="square" lIns="45720" rIns="45720" tIns="18288" bIns="18288" anchor="t">
            <a:spAutoFit/>
          </a:bodyPr>
          <a:lstStyle/>
          <a:p>
            <a:pPr algn="l">
              <a:spcAft>
                <a:spcPts val="800"/>
              </a:spcAft>
            </a:pPr>
            <a:r>
              <a:rPr sz="1400" b="1">
                <a:solidFill>
                  <a:srgbClr val="0EA5E9"/>
                </a:solidFill>
                <a:latin typeface="Calibri"/>
              </a:rPr>
              <a:t>02</a:t>
            </a:r>
          </a:p>
          <a:p>
            <a:pPr algn="l">
              <a:spcAft>
                <a:spcPts val="800"/>
              </a:spcAft>
            </a:pPr>
            <a:r>
              <a:rPr sz="1800" b="1">
                <a:solidFill>
                  <a:srgbClr val="1F2937"/>
                </a:solidFill>
                <a:latin typeface="Calibri"/>
              </a:rPr>
              <a:t>Spreadsheet sprawl</a:t>
            </a:r>
          </a:p>
          <a:p>
            <a:pPr algn="l">
              <a:spcAft>
                <a:spcPts val="0"/>
              </a:spcAft>
            </a:pPr>
            <a:r>
              <a:rPr sz="1200" b="0">
                <a:solidFill>
                  <a:srgbClr val="6B7280"/>
                </a:solidFill>
                <a:latin typeface="Calibri"/>
              </a:rPr>
              <a:t>Pricing tiers and promotions fall behind. Margin leaks silently, rebuilt from memory each quarter.</a:t>
            </a:r>
          </a:p>
        </p:txBody>
      </p:sp>
      <p:sp>
        <p:nvSpPr>
          <p:cNvPr id="9" name="Rounded Rectangle 8"/>
          <p:cNvSpPr/>
          <p:nvPr/>
        </p:nvSpPr>
        <p:spPr>
          <a:xfrm>
            <a:off x="8097316" y="3108960"/>
            <a:ext cx="3545738" cy="2377440"/>
          </a:xfrm>
          <a:prstGeom prst="roundRect">
            <a:avLst>
              <a:gd name="adj" fmla="val 6000"/>
            </a:avLst>
          </a:prstGeom>
          <a:solidFill>
            <a:srgbClr val="F8FAFC"/>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71636" y="3337560"/>
            <a:ext cx="2997098" cy="1920240"/>
          </a:xfrm>
          <a:prstGeom prst="rect">
            <a:avLst/>
          </a:prstGeom>
          <a:noFill/>
        </p:spPr>
        <p:txBody>
          <a:bodyPr wrap="square" lIns="45720" rIns="45720" tIns="18288" bIns="18288" anchor="t">
            <a:spAutoFit/>
          </a:bodyPr>
          <a:lstStyle/>
          <a:p>
            <a:pPr algn="l">
              <a:spcAft>
                <a:spcPts val="800"/>
              </a:spcAft>
            </a:pPr>
            <a:r>
              <a:rPr sz="1400" b="1">
                <a:solidFill>
                  <a:srgbClr val="0EA5E9"/>
                </a:solidFill>
                <a:latin typeface="Calibri"/>
              </a:rPr>
              <a:t>03</a:t>
            </a:r>
          </a:p>
          <a:p>
            <a:pPr algn="l">
              <a:spcAft>
                <a:spcPts val="800"/>
              </a:spcAft>
            </a:pPr>
            <a:r>
              <a:rPr sz="1800" b="1">
                <a:solidFill>
                  <a:srgbClr val="1F2937"/>
                </a:solidFill>
                <a:latin typeface="Calibri"/>
              </a:rPr>
              <a:t>No paper trail</a:t>
            </a:r>
          </a:p>
          <a:p>
            <a:pPr algn="l">
              <a:spcAft>
                <a:spcPts val="0"/>
              </a:spcAft>
            </a:pPr>
            <a:r>
              <a:rPr sz="1200" b="0">
                <a:solidFill>
                  <a:srgbClr val="6B7280"/>
                </a:solidFill>
                <a:latin typeface="Calibri"/>
              </a:rPr>
              <a:t>When something goes wrong, nobody knows who changed what. Compliance and trust take the hit.</a:t>
            </a:r>
          </a:p>
        </p:txBody>
      </p:sp>
      <p:sp>
        <p:nvSpPr>
          <p:cNvPr id="11" name="TextBox 10"/>
          <p:cNvSpPr txBox="1"/>
          <p:nvPr/>
        </p:nvSpPr>
        <p:spPr>
          <a:xfrm>
            <a:off x="548640" y="5760720"/>
            <a:ext cx="10972800" cy="457200"/>
          </a:xfrm>
          <a:prstGeom prst="rect">
            <a:avLst/>
          </a:prstGeom>
          <a:noFill/>
        </p:spPr>
        <p:txBody>
          <a:bodyPr wrap="square" lIns="45720" rIns="45720" tIns="18288" bIns="18288" anchor="t">
            <a:spAutoFit/>
          </a:bodyPr>
          <a:lstStyle/>
          <a:p>
            <a:pPr algn="l">
              <a:spcAft>
                <a:spcPts val="0"/>
              </a:spcAft>
            </a:pPr>
            <a:r>
              <a:rPr sz="1400" b="1">
                <a:solidFill>
                  <a:srgbClr val="1F2937"/>
                </a:solidFill>
                <a:latin typeface="Calibri"/>
              </a:rPr>
              <a:t>Existing systems treat each channel separately. We unify them.</a:t>
            </a:r>
          </a:p>
        </p:txBody>
      </p:sp>
      <p:sp>
        <p:nvSpPr>
          <p:cNvPr id="12" name="TextBox 11"/>
          <p:cNvSpPr txBox="1"/>
          <p:nvPr/>
        </p:nvSpPr>
        <p:spPr>
          <a:xfrm>
            <a:off x="548640" y="6446520"/>
            <a:ext cx="11064240" cy="320040"/>
          </a:xfrm>
          <a:prstGeom prst="rect">
            <a:avLst/>
          </a:prstGeom>
          <a:noFill/>
        </p:spPr>
        <p:txBody>
          <a:bodyPr wrap="square" lIns="45720" rIns="45720" tIns="18288" bIns="18288" anchor="t">
            <a:spAutoFit/>
          </a:bodyPr>
          <a:lstStyle/>
          <a:p>
            <a:pPr algn="l">
              <a:spcAft>
                <a:spcPts val="400"/>
              </a:spcAft>
            </a:pPr>
            <a:r>
              <a:rPr sz="900" b="0">
                <a:solidFill>
                  <a:srgbClr val="6B7280"/>
                </a:solidFill>
                <a:latin typeface="Calibri"/>
              </a:rPr>
              <a:t>Nex Order   •   The problem   •   Page 2 of 5</a:t>
            </a:r>
          </a:p>
        </p:txBody>
      </p:sp>
      <p:cxnSp>
        <p:nvCxnSpPr>
          <p:cNvPr id="13" name="Connector 12"/>
          <p:cNvCxnSpPr/>
          <p:nvPr/>
        </p:nvCxnSpPr>
        <p:spPr>
          <a:xfrm>
            <a:off x="548640" y="6400800"/>
            <a:ext cx="11064240"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54864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13232"/>
            <a:ext cx="5486400" cy="320040"/>
          </a:xfrm>
          <a:prstGeom prst="rect">
            <a:avLst/>
          </a:prstGeom>
          <a:noFill/>
        </p:spPr>
        <p:txBody>
          <a:bodyPr wrap="square" lIns="45720" rIns="45720" tIns="18288" bIns="18288" anchor="t">
            <a:spAutoFit/>
          </a:bodyPr>
          <a:lstStyle/>
          <a:p>
            <a:pPr algn="l">
              <a:spcAft>
                <a:spcPts val="400"/>
              </a:spcAft>
            </a:pPr>
            <a:r>
              <a:rPr sz="1100" b="1">
                <a:solidFill>
                  <a:srgbClr val="0EA5E9"/>
                </a:solidFill>
                <a:latin typeface="Calibri"/>
              </a:rPr>
              <a:t>PROCESS FLOW</a:t>
            </a:r>
          </a:p>
        </p:txBody>
      </p:sp>
      <p:sp>
        <p:nvSpPr>
          <p:cNvPr id="4" name="TextBox 3"/>
          <p:cNvSpPr txBox="1"/>
          <p:nvPr/>
        </p:nvSpPr>
        <p:spPr>
          <a:xfrm>
            <a:off x="548640" y="1097280"/>
            <a:ext cx="11064240" cy="548640"/>
          </a:xfrm>
          <a:prstGeom prst="rect">
            <a:avLst/>
          </a:prstGeom>
          <a:noFill/>
        </p:spPr>
        <p:txBody>
          <a:bodyPr wrap="square" lIns="45720" rIns="45720" tIns="18288" bIns="18288" anchor="t">
            <a:spAutoFit/>
          </a:bodyPr>
          <a:lstStyle/>
          <a:p>
            <a:pPr algn="l">
              <a:spcAft>
                <a:spcPts val="400"/>
              </a:spcAft>
            </a:pPr>
            <a:r>
              <a:rPr sz="2600" b="1">
                <a:solidFill>
                  <a:srgbClr val="1F2937"/>
                </a:solidFill>
                <a:latin typeface="Calibri"/>
              </a:rPr>
              <a:t>How an order flows through Nex Order.</a:t>
            </a:r>
          </a:p>
        </p:txBody>
      </p:sp>
      <p:sp>
        <p:nvSpPr>
          <p:cNvPr id="5" name="TextBox 4"/>
          <p:cNvSpPr txBox="1"/>
          <p:nvPr/>
        </p:nvSpPr>
        <p:spPr>
          <a:xfrm>
            <a:off x="548640" y="1554480"/>
            <a:ext cx="3108960" cy="274320"/>
          </a:xfrm>
          <a:prstGeom prst="rect">
            <a:avLst/>
          </a:prstGeom>
          <a:noFill/>
        </p:spPr>
        <p:txBody>
          <a:bodyPr wrap="square" lIns="45720" rIns="45720" tIns="18288" bIns="18288" anchor="t">
            <a:spAutoFit/>
          </a:bodyPr>
          <a:lstStyle/>
          <a:p>
            <a:pPr algn="ctr">
              <a:spcAft>
                <a:spcPts val="400"/>
              </a:spcAft>
            </a:pPr>
            <a:r>
              <a:rPr sz="1000" b="1">
                <a:solidFill>
                  <a:srgbClr val="0EA5E9"/>
                </a:solidFill>
                <a:latin typeface="Calibri"/>
              </a:rPr>
              <a:t>INTAKE CHANNELS</a:t>
            </a:r>
          </a:p>
        </p:txBody>
      </p:sp>
      <p:sp>
        <p:nvSpPr>
          <p:cNvPr id="6" name="TextBox 5"/>
          <p:cNvSpPr txBox="1"/>
          <p:nvPr/>
        </p:nvSpPr>
        <p:spPr>
          <a:xfrm>
            <a:off x="4023360" y="1554480"/>
            <a:ext cx="3291840" cy="274320"/>
          </a:xfrm>
          <a:prstGeom prst="rect">
            <a:avLst/>
          </a:prstGeom>
          <a:noFill/>
        </p:spPr>
        <p:txBody>
          <a:bodyPr wrap="square" lIns="45720" rIns="45720" tIns="18288" bIns="18288" anchor="t">
            <a:spAutoFit/>
          </a:bodyPr>
          <a:lstStyle/>
          <a:p>
            <a:pPr algn="ctr">
              <a:spcAft>
                <a:spcPts val="400"/>
              </a:spcAft>
            </a:pPr>
            <a:r>
              <a:rPr sz="1000" b="1">
                <a:solidFill>
                  <a:srgbClr val="0EA5E9"/>
                </a:solidFill>
                <a:latin typeface="Calibri"/>
              </a:rPr>
              <a:t>UNIFIED PIPELINE</a:t>
            </a:r>
          </a:p>
        </p:txBody>
      </p:sp>
      <p:sp>
        <p:nvSpPr>
          <p:cNvPr id="7" name="TextBox 6"/>
          <p:cNvSpPr txBox="1"/>
          <p:nvPr/>
        </p:nvSpPr>
        <p:spPr>
          <a:xfrm>
            <a:off x="7680960" y="1554480"/>
            <a:ext cx="3108960" cy="274320"/>
          </a:xfrm>
          <a:prstGeom prst="rect">
            <a:avLst/>
          </a:prstGeom>
          <a:noFill/>
        </p:spPr>
        <p:txBody>
          <a:bodyPr wrap="square" lIns="45720" rIns="45720" tIns="18288" bIns="18288" anchor="t">
            <a:spAutoFit/>
          </a:bodyPr>
          <a:lstStyle/>
          <a:p>
            <a:pPr algn="ctr">
              <a:spcAft>
                <a:spcPts val="400"/>
              </a:spcAft>
            </a:pPr>
            <a:r>
              <a:rPr sz="1000" b="1">
                <a:solidFill>
                  <a:srgbClr val="0EA5E9"/>
                </a:solidFill>
                <a:latin typeface="Calibri"/>
              </a:rPr>
              <a:t>FULFILLMENT</a:t>
            </a:r>
          </a:p>
        </p:txBody>
      </p:sp>
      <p:sp>
        <p:nvSpPr>
          <p:cNvPr id="8" name="Rounded Rectangle 7"/>
          <p:cNvSpPr/>
          <p:nvPr/>
        </p:nvSpPr>
        <p:spPr>
          <a:xfrm>
            <a:off x="548640" y="1920240"/>
            <a:ext cx="3108960" cy="800100"/>
          </a:xfrm>
          <a:prstGeom prst="roundRect">
            <a:avLst>
              <a:gd name="adj" fmla="val 10000"/>
            </a:avLst>
          </a:prstGeom>
          <a:solidFill>
            <a:srgbClr val="FFFFFF"/>
          </a:solidFill>
          <a:ln w="15875">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29968"/>
            <a:ext cx="2743200" cy="580644"/>
          </a:xfrm>
          <a:prstGeom prst="rect">
            <a:avLst/>
          </a:prstGeom>
          <a:noFill/>
        </p:spPr>
        <p:txBody>
          <a:bodyPr wrap="square" lIns="45720" rIns="45720" tIns="18288" bIns="18288" anchor="t">
            <a:spAutoFit/>
          </a:bodyPr>
          <a:lstStyle/>
          <a:p>
            <a:pPr algn="l">
              <a:spcAft>
                <a:spcPts val="200"/>
              </a:spcAft>
            </a:pPr>
            <a:r>
              <a:rPr sz="1200" b="1">
                <a:solidFill>
                  <a:srgbClr val="1F2937"/>
                </a:solidFill>
                <a:latin typeface="Calibri"/>
              </a:rPr>
              <a:t>Customer self-serve</a:t>
            </a:r>
          </a:p>
          <a:p>
            <a:pPr algn="l">
              <a:spcAft>
                <a:spcPts val="0"/>
              </a:spcAft>
            </a:pPr>
            <a:r>
              <a:rPr sz="900" b="0">
                <a:solidFill>
                  <a:srgbClr val="6B7280"/>
                </a:solidFill>
                <a:latin typeface="Calibri"/>
              </a:rPr>
              <a:t>Shop view on phone or web</a:t>
            </a:r>
          </a:p>
        </p:txBody>
      </p:sp>
      <p:sp>
        <p:nvSpPr>
          <p:cNvPr id="10" name="Rounded Rectangle 9"/>
          <p:cNvSpPr/>
          <p:nvPr/>
        </p:nvSpPr>
        <p:spPr>
          <a:xfrm>
            <a:off x="548640" y="2811780"/>
            <a:ext cx="3108960" cy="800100"/>
          </a:xfrm>
          <a:prstGeom prst="roundRect">
            <a:avLst>
              <a:gd name="adj" fmla="val 10000"/>
            </a:avLst>
          </a:prstGeom>
          <a:solidFill>
            <a:srgbClr val="FFFFFF"/>
          </a:solidFill>
          <a:ln w="15875">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21508"/>
            <a:ext cx="2743200" cy="580644"/>
          </a:xfrm>
          <a:prstGeom prst="rect">
            <a:avLst/>
          </a:prstGeom>
          <a:noFill/>
        </p:spPr>
        <p:txBody>
          <a:bodyPr wrap="square" lIns="45720" rIns="45720" tIns="18288" bIns="18288" anchor="t">
            <a:spAutoFit/>
          </a:bodyPr>
          <a:lstStyle/>
          <a:p>
            <a:pPr algn="l">
              <a:spcAft>
                <a:spcPts val="200"/>
              </a:spcAft>
            </a:pPr>
            <a:r>
              <a:rPr sz="1200" b="1">
                <a:solidFill>
                  <a:srgbClr val="1F2937"/>
                </a:solidFill>
                <a:latin typeface="Calibri"/>
              </a:rPr>
              <a:t>Office sales rep</a:t>
            </a:r>
          </a:p>
          <a:p>
            <a:pPr algn="l">
              <a:spcAft>
                <a:spcPts val="0"/>
              </a:spcAft>
            </a:pPr>
            <a:r>
              <a:rPr sz="900" b="0">
                <a:solidFill>
                  <a:srgbClr val="6B7280"/>
                </a:solidFill>
                <a:latin typeface="Calibri"/>
              </a:rPr>
              <a:t>Telesales — call-reference verification</a:t>
            </a:r>
          </a:p>
        </p:txBody>
      </p:sp>
      <p:sp>
        <p:nvSpPr>
          <p:cNvPr id="12" name="Rounded Rectangle 11"/>
          <p:cNvSpPr/>
          <p:nvPr/>
        </p:nvSpPr>
        <p:spPr>
          <a:xfrm>
            <a:off x="548640" y="3703320"/>
            <a:ext cx="3108960" cy="800100"/>
          </a:xfrm>
          <a:prstGeom prst="roundRect">
            <a:avLst>
              <a:gd name="adj" fmla="val 10000"/>
            </a:avLst>
          </a:prstGeom>
          <a:solidFill>
            <a:srgbClr val="FFFFFF"/>
          </a:solidFill>
          <a:ln w="15875">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813048"/>
            <a:ext cx="2743200" cy="580644"/>
          </a:xfrm>
          <a:prstGeom prst="rect">
            <a:avLst/>
          </a:prstGeom>
          <a:noFill/>
        </p:spPr>
        <p:txBody>
          <a:bodyPr wrap="square" lIns="45720" rIns="45720" tIns="18288" bIns="18288" anchor="t">
            <a:spAutoFit/>
          </a:bodyPr>
          <a:lstStyle/>
          <a:p>
            <a:pPr algn="l">
              <a:spcAft>
                <a:spcPts val="200"/>
              </a:spcAft>
            </a:pPr>
            <a:r>
              <a:rPr sz="1200" b="1">
                <a:solidFill>
                  <a:srgbClr val="1F2937"/>
                </a:solidFill>
                <a:latin typeface="Calibri"/>
              </a:rPr>
              <a:t>Field sales rep</a:t>
            </a:r>
          </a:p>
          <a:p>
            <a:pPr algn="l">
              <a:spcAft>
                <a:spcPts val="0"/>
              </a:spcAft>
            </a:pPr>
            <a:r>
              <a:rPr sz="900" b="0">
                <a:solidFill>
                  <a:srgbClr val="6B7280"/>
                </a:solidFill>
                <a:latin typeface="Calibri"/>
              </a:rPr>
              <a:t>On-site — customer signature</a:t>
            </a:r>
          </a:p>
        </p:txBody>
      </p:sp>
      <p:sp>
        <p:nvSpPr>
          <p:cNvPr id="14" name="Rounded Rectangle 13"/>
          <p:cNvSpPr/>
          <p:nvPr/>
        </p:nvSpPr>
        <p:spPr>
          <a:xfrm>
            <a:off x="548640" y="4594860"/>
            <a:ext cx="3108960" cy="800100"/>
          </a:xfrm>
          <a:prstGeom prst="roundRect">
            <a:avLst>
              <a:gd name="adj" fmla="val 10000"/>
            </a:avLst>
          </a:prstGeom>
          <a:solidFill>
            <a:srgbClr val="F8FAFC"/>
          </a:solidFill>
          <a:ln w="9525">
            <a:solidFill>
              <a:srgbClr val="6B7280"/>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04588"/>
            <a:ext cx="2743200" cy="580644"/>
          </a:xfrm>
          <a:prstGeom prst="rect">
            <a:avLst/>
          </a:prstGeom>
          <a:noFill/>
        </p:spPr>
        <p:txBody>
          <a:bodyPr wrap="square" lIns="45720" rIns="45720" tIns="18288" bIns="18288" anchor="t">
            <a:spAutoFit/>
          </a:bodyPr>
          <a:lstStyle/>
          <a:p>
            <a:pPr algn="l">
              <a:spcAft>
                <a:spcPts val="200"/>
              </a:spcAft>
            </a:pPr>
            <a:r>
              <a:rPr sz="1200" b="1">
                <a:solidFill>
                  <a:srgbClr val="6B7280"/>
                </a:solidFill>
                <a:latin typeface="Calibri"/>
              </a:rPr>
              <a:t>Roadmap: Email / WhatsApp / EDI</a:t>
            </a:r>
          </a:p>
          <a:p>
            <a:pPr algn="l">
              <a:spcAft>
                <a:spcPts val="0"/>
              </a:spcAft>
            </a:pPr>
            <a:r>
              <a:rPr sz="900" b="0">
                <a:solidFill>
                  <a:srgbClr val="6B7280"/>
                </a:solidFill>
                <a:latin typeface="Calibri"/>
              </a:rPr>
              <a:t>External channels, same gate</a:t>
            </a:r>
          </a:p>
        </p:txBody>
      </p:sp>
      <p:sp>
        <p:nvSpPr>
          <p:cNvPr id="16" name="Rounded Rectangle 15"/>
          <p:cNvSpPr/>
          <p:nvPr/>
        </p:nvSpPr>
        <p:spPr>
          <a:xfrm>
            <a:off x="4023360" y="1920240"/>
            <a:ext cx="3291840" cy="4023360"/>
          </a:xfrm>
          <a:prstGeom prst="roundRect">
            <a:avLst>
              <a:gd name="adj" fmla="val 6000"/>
            </a:avLst>
          </a:prstGeom>
          <a:solidFill>
            <a:srgbClr val="1F293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2148840"/>
            <a:ext cx="2834640" cy="3566160"/>
          </a:xfrm>
          <a:prstGeom prst="rect">
            <a:avLst/>
          </a:prstGeom>
          <a:noFill/>
        </p:spPr>
        <p:txBody>
          <a:bodyPr wrap="square" lIns="45720" rIns="45720" tIns="18288" bIns="18288" anchor="t">
            <a:spAutoFit/>
          </a:bodyPr>
          <a:lstStyle/>
          <a:p>
            <a:pPr algn="l">
              <a:spcAft>
                <a:spcPts val="400"/>
              </a:spcAft>
            </a:pPr>
            <a:r>
              <a:rPr sz="1100" b="1">
                <a:solidFill>
                  <a:srgbClr val="0EA5E9"/>
                </a:solidFill>
                <a:latin typeface="Calibri"/>
              </a:rPr>
              <a:t>place-order</a:t>
            </a:r>
          </a:p>
          <a:p>
            <a:pPr algn="l">
              <a:spcAft>
                <a:spcPts val="1400"/>
              </a:spcAft>
            </a:pPr>
            <a:r>
              <a:rPr sz="1200" b="1">
                <a:solidFill>
                  <a:srgbClr val="FFFFFF"/>
                </a:solidFill>
                <a:latin typeface="Calibri"/>
              </a:rPr>
              <a:t>Edge Function — single server-side gate</a:t>
            </a:r>
          </a:p>
          <a:p>
            <a:pPr algn="l">
              <a:spcAft>
                <a:spcPts val="400"/>
              </a:spcAft>
            </a:pPr>
            <a:r>
              <a:rPr sz="1100" b="0">
                <a:solidFill>
                  <a:srgbClr val="FFFFFF"/>
                </a:solidFill>
                <a:latin typeface="Calibri"/>
              </a:rPr>
              <a:t>•  Auth &amp; role check</a:t>
            </a:r>
          </a:p>
          <a:p>
            <a:pPr algn="l">
              <a:spcAft>
                <a:spcPts val="400"/>
              </a:spcAft>
            </a:pPr>
            <a:r>
              <a:rPr sz="1100" b="0">
                <a:solidFill>
                  <a:srgbClr val="FFFFFF"/>
                </a:solidFill>
                <a:latin typeface="Calibri"/>
              </a:rPr>
              <a:t>•  Tier pricing resolution</a:t>
            </a:r>
          </a:p>
          <a:p>
            <a:pPr algn="l">
              <a:spcAft>
                <a:spcPts val="400"/>
              </a:spcAft>
            </a:pPr>
            <a:r>
              <a:rPr sz="1100" b="0">
                <a:solidFill>
                  <a:srgbClr val="FFFFFF"/>
                </a:solidFill>
                <a:latin typeface="Calibri"/>
              </a:rPr>
              <a:t>•  Promotion engine (BOGO, bundles, storewide)</a:t>
            </a:r>
          </a:p>
          <a:p>
            <a:pPr algn="l">
              <a:spcAft>
                <a:spcPts val="400"/>
              </a:spcAft>
            </a:pPr>
            <a:r>
              <a:rPr sz="1100" b="0">
                <a:solidFill>
                  <a:srgbClr val="FFFFFF"/>
                </a:solidFill>
                <a:latin typeface="Calibri"/>
              </a:rPr>
              <a:t>•  Stock &amp; credit limit checks</a:t>
            </a:r>
          </a:p>
          <a:p>
            <a:pPr algn="l">
              <a:spcAft>
                <a:spcPts val="400"/>
              </a:spcAft>
            </a:pPr>
            <a:r>
              <a:rPr sz="1100" b="0">
                <a:solidFill>
                  <a:srgbClr val="FFFFFF"/>
                </a:solidFill>
                <a:latin typeface="Calibri"/>
              </a:rPr>
              <a:t>•  Atomic write — orders + items + invoice</a:t>
            </a:r>
          </a:p>
          <a:p>
            <a:pPr algn="l">
              <a:spcAft>
                <a:spcPts val="400"/>
              </a:spcAft>
            </a:pPr>
            <a:r>
              <a:rPr sz="1100" b="0">
                <a:solidFill>
                  <a:srgbClr val="FFFFFF"/>
                </a:solidFill>
                <a:latin typeface="Calibri"/>
              </a:rPr>
              <a:t>•  Realtime broadcast to all roles</a:t>
            </a:r>
          </a:p>
          <a:p>
            <a:pPr algn="l">
              <a:spcAft>
                <a:spcPts val="400"/>
              </a:spcAft>
            </a:pPr>
            <a:r>
              <a:rPr sz="1100" b="0">
                <a:solidFill>
                  <a:srgbClr val="FFFFFF"/>
                </a:solidFill>
                <a:latin typeface="Calibri"/>
              </a:rPr>
              <a:t>•  Email confirmation (Resend)</a:t>
            </a:r>
          </a:p>
          <a:p>
            <a:pPr algn="l">
              <a:spcAft>
                <a:spcPts val="400"/>
              </a:spcAft>
            </a:pPr>
            <a:r>
              <a:rPr sz="1100" b="0">
                <a:solidFill>
                  <a:srgbClr val="FFFFFF"/>
                </a:solidFill>
                <a:latin typeface="Calibri"/>
              </a:rPr>
              <a:t>•  Audit event written</a:t>
            </a:r>
          </a:p>
        </p:txBody>
      </p:sp>
      <p:sp>
        <p:nvSpPr>
          <p:cNvPr id="18" name="Rounded Rectangle 17"/>
          <p:cNvSpPr/>
          <p:nvPr/>
        </p:nvSpPr>
        <p:spPr>
          <a:xfrm>
            <a:off x="7680960" y="1920240"/>
            <a:ext cx="3108960" cy="800100"/>
          </a:xfrm>
          <a:prstGeom prst="roundRect">
            <a:avLst>
              <a:gd name="adj" fmla="val 10000"/>
            </a:avLst>
          </a:prstGeom>
          <a:solidFill>
            <a:srgbClr val="FFFFFF"/>
          </a:solidFill>
          <a:ln w="15875">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2029968"/>
            <a:ext cx="2743200" cy="580644"/>
          </a:xfrm>
          <a:prstGeom prst="rect">
            <a:avLst/>
          </a:prstGeom>
          <a:noFill/>
        </p:spPr>
        <p:txBody>
          <a:bodyPr wrap="square" lIns="45720" rIns="45720" tIns="18288" bIns="18288" anchor="t">
            <a:spAutoFit/>
          </a:bodyPr>
          <a:lstStyle/>
          <a:p>
            <a:pPr algn="l">
              <a:spcAft>
                <a:spcPts val="200"/>
              </a:spcAft>
            </a:pPr>
            <a:r>
              <a:rPr sz="1200" b="1">
                <a:solidFill>
                  <a:srgbClr val="1F2937"/>
                </a:solidFill>
                <a:latin typeface="Calibri"/>
              </a:rPr>
              <a:t>Order status pipeline</a:t>
            </a:r>
          </a:p>
          <a:p>
            <a:pPr algn="l">
              <a:spcAft>
                <a:spcPts val="0"/>
              </a:spcAft>
            </a:pPr>
            <a:r>
              <a:rPr sz="900" b="0">
                <a:solidFill>
                  <a:srgbClr val="6B7280"/>
                </a:solidFill>
                <a:latin typeface="Calibri"/>
              </a:rPr>
              <a:t>processing → confirmed → packed → shipped → delivered</a:t>
            </a:r>
          </a:p>
        </p:txBody>
      </p:sp>
      <p:sp>
        <p:nvSpPr>
          <p:cNvPr id="20" name="Rounded Rectangle 19"/>
          <p:cNvSpPr/>
          <p:nvPr/>
        </p:nvSpPr>
        <p:spPr>
          <a:xfrm>
            <a:off x="7680960" y="2811780"/>
            <a:ext cx="3108960" cy="800100"/>
          </a:xfrm>
          <a:prstGeom prst="roundRect">
            <a:avLst>
              <a:gd name="adj" fmla="val 10000"/>
            </a:avLst>
          </a:prstGeom>
          <a:solidFill>
            <a:srgbClr val="FFFFFF"/>
          </a:solidFill>
          <a:ln w="15875">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2921508"/>
            <a:ext cx="2743200" cy="580644"/>
          </a:xfrm>
          <a:prstGeom prst="rect">
            <a:avLst/>
          </a:prstGeom>
          <a:noFill/>
        </p:spPr>
        <p:txBody>
          <a:bodyPr wrap="square" lIns="45720" rIns="45720" tIns="18288" bIns="18288" anchor="t">
            <a:spAutoFit/>
          </a:bodyPr>
          <a:lstStyle/>
          <a:p>
            <a:pPr algn="l">
              <a:spcAft>
                <a:spcPts val="200"/>
              </a:spcAft>
            </a:pPr>
            <a:r>
              <a:rPr sz="1200" b="1">
                <a:solidFill>
                  <a:srgbClr val="1F2937"/>
                </a:solidFill>
                <a:latin typeface="Calibri"/>
              </a:rPr>
              <a:t>Invoice lifecycle</a:t>
            </a:r>
          </a:p>
          <a:p>
            <a:pPr algn="l">
              <a:spcAft>
                <a:spcPts val="0"/>
              </a:spcAft>
            </a:pPr>
            <a:r>
              <a:rPr sz="900" b="0">
                <a:solidFill>
                  <a:srgbClr val="6B7280"/>
                </a:solidFill>
                <a:latin typeface="Calibri"/>
              </a:rPr>
              <a:t>pending → issued → paid (auto-email on issue)</a:t>
            </a:r>
          </a:p>
        </p:txBody>
      </p:sp>
      <p:sp>
        <p:nvSpPr>
          <p:cNvPr id="22" name="Rounded Rectangle 21"/>
          <p:cNvSpPr/>
          <p:nvPr/>
        </p:nvSpPr>
        <p:spPr>
          <a:xfrm>
            <a:off x="7680960" y="3703320"/>
            <a:ext cx="3108960" cy="800100"/>
          </a:xfrm>
          <a:prstGeom prst="roundRect">
            <a:avLst>
              <a:gd name="adj" fmla="val 10000"/>
            </a:avLst>
          </a:prstGeom>
          <a:solidFill>
            <a:srgbClr val="FFFFFF"/>
          </a:solidFill>
          <a:ln w="15875">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3813048"/>
            <a:ext cx="2743200" cy="580644"/>
          </a:xfrm>
          <a:prstGeom prst="rect">
            <a:avLst/>
          </a:prstGeom>
          <a:noFill/>
        </p:spPr>
        <p:txBody>
          <a:bodyPr wrap="square" lIns="45720" rIns="45720" tIns="18288" bIns="18288" anchor="t">
            <a:spAutoFit/>
          </a:bodyPr>
          <a:lstStyle/>
          <a:p>
            <a:pPr algn="l">
              <a:spcAft>
                <a:spcPts val="200"/>
              </a:spcAft>
            </a:pPr>
            <a:r>
              <a:rPr sz="1200" b="1">
                <a:solidFill>
                  <a:srgbClr val="1F2937"/>
                </a:solidFill>
                <a:latin typeface="Calibri"/>
              </a:rPr>
              <a:t>Stock decrement</a:t>
            </a:r>
          </a:p>
          <a:p>
            <a:pPr algn="l">
              <a:spcAft>
                <a:spcPts val="0"/>
              </a:spcAft>
            </a:pPr>
            <a:r>
              <a:rPr sz="900" b="0">
                <a:solidFill>
                  <a:srgbClr val="6B7280"/>
                </a:solidFill>
                <a:latin typeface="Calibri"/>
              </a:rPr>
              <a:t>Inventory drops; low-stock alert if below threshold</a:t>
            </a:r>
          </a:p>
        </p:txBody>
      </p:sp>
      <p:sp>
        <p:nvSpPr>
          <p:cNvPr id="24" name="Rounded Rectangle 23"/>
          <p:cNvSpPr/>
          <p:nvPr/>
        </p:nvSpPr>
        <p:spPr>
          <a:xfrm>
            <a:off x="7680960" y="4594860"/>
            <a:ext cx="3108960" cy="800100"/>
          </a:xfrm>
          <a:prstGeom prst="roundRect">
            <a:avLst>
              <a:gd name="adj" fmla="val 10000"/>
            </a:avLst>
          </a:prstGeom>
          <a:solidFill>
            <a:srgbClr val="FFFFFF"/>
          </a:solidFill>
          <a:ln w="15875">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4704588"/>
            <a:ext cx="2743200" cy="580644"/>
          </a:xfrm>
          <a:prstGeom prst="rect">
            <a:avLst/>
          </a:prstGeom>
          <a:noFill/>
        </p:spPr>
        <p:txBody>
          <a:bodyPr wrap="square" lIns="45720" rIns="45720" tIns="18288" bIns="18288" anchor="t">
            <a:spAutoFit/>
          </a:bodyPr>
          <a:lstStyle/>
          <a:p>
            <a:pPr algn="l">
              <a:spcAft>
                <a:spcPts val="200"/>
              </a:spcAft>
            </a:pPr>
            <a:r>
              <a:rPr sz="1200" b="1">
                <a:solidFill>
                  <a:srgbClr val="1F2937"/>
                </a:solidFill>
                <a:latin typeface="Calibri"/>
              </a:rPr>
              <a:t>Audit log entry</a:t>
            </a:r>
          </a:p>
          <a:p>
            <a:pPr algn="l">
              <a:spcAft>
                <a:spcPts val="0"/>
              </a:spcAft>
            </a:pPr>
            <a:r>
              <a:rPr sz="900" b="0">
                <a:solidFill>
                  <a:srgbClr val="6B7280"/>
                </a:solidFill>
                <a:latin typeface="Calibri"/>
              </a:rPr>
              <a:t>Actor, before/after, optional reason</a:t>
            </a:r>
          </a:p>
        </p:txBody>
      </p:sp>
      <p:cxnSp>
        <p:nvCxnSpPr>
          <p:cNvPr id="26" name="Connector 25"/>
          <p:cNvCxnSpPr/>
          <p:nvPr/>
        </p:nvCxnSpPr>
        <p:spPr>
          <a:xfrm>
            <a:off x="3657600" y="3931920"/>
            <a:ext cx="365760" cy="0"/>
          </a:xfrm>
          <a:prstGeom prst="line">
            <a:avLst/>
          </a:prstGeom>
          <a:ln w="19050">
            <a:solidFill>
              <a:srgbClr val="0EA5E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315200" y="3931920"/>
            <a:ext cx="365760" cy="0"/>
          </a:xfrm>
          <a:prstGeom prst="line">
            <a:avLst/>
          </a:prstGeom>
          <a:ln w="19050">
            <a:solidFill>
              <a:srgbClr val="0EA5E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080760"/>
            <a:ext cx="10972800" cy="365760"/>
          </a:xfrm>
          <a:prstGeom prst="rect">
            <a:avLst/>
          </a:prstGeom>
          <a:noFill/>
        </p:spPr>
        <p:txBody>
          <a:bodyPr wrap="square" lIns="45720" rIns="45720" tIns="18288" bIns="18288" anchor="t">
            <a:spAutoFit/>
          </a:bodyPr>
          <a:lstStyle/>
          <a:p>
            <a:pPr algn="ctr">
              <a:spcAft>
                <a:spcPts val="400"/>
              </a:spcAft>
            </a:pPr>
            <a:r>
              <a:rPr sz="1200" b="1">
                <a:solidFill>
                  <a:srgbClr val="1F2937"/>
                </a:solidFill>
                <a:latin typeface="Calibri"/>
              </a:rPr>
              <a:t>One server-side gate. Same rules for every channel. Every action logged.</a:t>
            </a:r>
          </a:p>
        </p:txBody>
      </p:sp>
      <p:sp>
        <p:nvSpPr>
          <p:cNvPr id="29" name="TextBox 28"/>
          <p:cNvSpPr txBox="1"/>
          <p:nvPr/>
        </p:nvSpPr>
        <p:spPr>
          <a:xfrm>
            <a:off x="548640" y="6446520"/>
            <a:ext cx="11064240" cy="320040"/>
          </a:xfrm>
          <a:prstGeom prst="rect">
            <a:avLst/>
          </a:prstGeom>
          <a:noFill/>
        </p:spPr>
        <p:txBody>
          <a:bodyPr wrap="square" lIns="45720" rIns="45720" tIns="18288" bIns="18288" anchor="t">
            <a:spAutoFit/>
          </a:bodyPr>
          <a:lstStyle/>
          <a:p>
            <a:pPr algn="l">
              <a:spcAft>
                <a:spcPts val="400"/>
              </a:spcAft>
            </a:pPr>
            <a:r>
              <a:rPr sz="900" b="0">
                <a:solidFill>
                  <a:srgbClr val="6B7280"/>
                </a:solidFill>
                <a:latin typeface="Calibri"/>
              </a:rPr>
              <a:t>Nex Order   •   Process flow   •   Page 3 of 5</a:t>
            </a:r>
          </a:p>
        </p:txBody>
      </p:sp>
      <p:cxnSp>
        <p:nvCxnSpPr>
          <p:cNvPr id="30" name="Connector 29"/>
          <p:cNvCxnSpPr/>
          <p:nvPr/>
        </p:nvCxnSpPr>
        <p:spPr>
          <a:xfrm>
            <a:off x="548640" y="6400800"/>
            <a:ext cx="11064240"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54864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13232"/>
            <a:ext cx="5486400" cy="320040"/>
          </a:xfrm>
          <a:prstGeom prst="rect">
            <a:avLst/>
          </a:prstGeom>
          <a:noFill/>
        </p:spPr>
        <p:txBody>
          <a:bodyPr wrap="square" lIns="45720" rIns="45720" tIns="18288" bIns="18288" anchor="t">
            <a:spAutoFit/>
          </a:bodyPr>
          <a:lstStyle/>
          <a:p>
            <a:pPr algn="l">
              <a:spcAft>
                <a:spcPts val="400"/>
              </a:spcAft>
            </a:pPr>
            <a:r>
              <a:rPr sz="1100" b="1">
                <a:solidFill>
                  <a:srgbClr val="0EA5E9"/>
                </a:solidFill>
                <a:latin typeface="Calibri"/>
              </a:rPr>
              <a:t>WHAT'S IN THE PLATFORM</a:t>
            </a:r>
          </a:p>
        </p:txBody>
      </p:sp>
      <p:sp>
        <p:nvSpPr>
          <p:cNvPr id="4" name="TextBox 3"/>
          <p:cNvSpPr txBox="1"/>
          <p:nvPr/>
        </p:nvSpPr>
        <p:spPr>
          <a:xfrm>
            <a:off x="548640" y="1097280"/>
            <a:ext cx="11064240" cy="548640"/>
          </a:xfrm>
          <a:prstGeom prst="rect">
            <a:avLst/>
          </a:prstGeom>
          <a:noFill/>
        </p:spPr>
        <p:txBody>
          <a:bodyPr wrap="square" lIns="45720" rIns="45720" tIns="18288" bIns="18288" anchor="t">
            <a:spAutoFit/>
          </a:bodyPr>
          <a:lstStyle/>
          <a:p>
            <a:pPr algn="l">
              <a:spcAft>
                <a:spcPts val="400"/>
              </a:spcAft>
            </a:pPr>
            <a:r>
              <a:rPr sz="2600" b="1">
                <a:solidFill>
                  <a:srgbClr val="1F2937"/>
                </a:solidFill>
                <a:latin typeface="Calibri"/>
              </a:rPr>
              <a:t>Built for the realities of B2B selling.</a:t>
            </a:r>
          </a:p>
        </p:txBody>
      </p:sp>
      <p:sp>
        <p:nvSpPr>
          <p:cNvPr id="5" name="Rounded Rectangle 4"/>
          <p:cNvSpPr/>
          <p:nvPr/>
        </p:nvSpPr>
        <p:spPr>
          <a:xfrm>
            <a:off x="548640" y="2011680"/>
            <a:ext cx="3545738" cy="1851660"/>
          </a:xfrm>
          <a:prstGeom prst="roundRect">
            <a:avLst>
              <a:gd name="adj" fmla="val 6000"/>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240280"/>
            <a:ext cx="36576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23160"/>
            <a:ext cx="3088538" cy="1303020"/>
          </a:xfrm>
          <a:prstGeom prst="rect">
            <a:avLst/>
          </a:prstGeom>
          <a:noFill/>
        </p:spPr>
        <p:txBody>
          <a:bodyPr wrap="square" lIns="45720" rIns="45720" tIns="18288" bIns="18288" anchor="t">
            <a:spAutoFit/>
          </a:bodyPr>
          <a:lstStyle/>
          <a:p>
            <a:pPr algn="l">
              <a:spcAft>
                <a:spcPts val="600"/>
              </a:spcAft>
            </a:pPr>
            <a:r>
              <a:rPr sz="1500" b="1">
                <a:solidFill>
                  <a:srgbClr val="1F2937"/>
                </a:solidFill>
                <a:latin typeface="Calibri"/>
              </a:rPr>
              <a:t>Pantry intelligence</a:t>
            </a:r>
          </a:p>
          <a:p>
            <a:pPr algn="l">
              <a:spcAft>
                <a:spcPts val="0"/>
              </a:spcAft>
            </a:pPr>
            <a:r>
              <a:rPr sz="1100" b="0">
                <a:solidFill>
                  <a:srgbClr val="6B7280"/>
                </a:solidFill>
                <a:latin typeface="Calibri"/>
              </a:rPr>
              <a:t>Per-customer reorder list, frequency-weighted suggestions, automatic out-of-stock substitutes.</a:t>
            </a:r>
          </a:p>
        </p:txBody>
      </p:sp>
      <p:sp>
        <p:nvSpPr>
          <p:cNvPr id="8" name="Rounded Rectangle 7"/>
          <p:cNvSpPr/>
          <p:nvPr/>
        </p:nvSpPr>
        <p:spPr>
          <a:xfrm>
            <a:off x="4322978" y="2011680"/>
            <a:ext cx="3545738" cy="1851660"/>
          </a:xfrm>
          <a:prstGeom prst="roundRect">
            <a:avLst>
              <a:gd name="adj" fmla="val 6000"/>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51578" y="2240280"/>
            <a:ext cx="36576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1578" y="2423160"/>
            <a:ext cx="3088538" cy="1303020"/>
          </a:xfrm>
          <a:prstGeom prst="rect">
            <a:avLst/>
          </a:prstGeom>
          <a:noFill/>
        </p:spPr>
        <p:txBody>
          <a:bodyPr wrap="square" lIns="45720" rIns="45720" tIns="18288" bIns="18288" anchor="t">
            <a:spAutoFit/>
          </a:bodyPr>
          <a:lstStyle/>
          <a:p>
            <a:pPr algn="l">
              <a:spcAft>
                <a:spcPts val="600"/>
              </a:spcAft>
            </a:pPr>
            <a:r>
              <a:rPr sz="1500" b="1">
                <a:solidFill>
                  <a:srgbClr val="1F2937"/>
                </a:solidFill>
                <a:latin typeface="Calibri"/>
              </a:rPr>
              <a:t>Tier pricing &amp; promotions</a:t>
            </a:r>
          </a:p>
          <a:p>
            <a:pPr algn="l">
              <a:spcAft>
                <a:spcPts val="0"/>
              </a:spcAft>
            </a:pPr>
            <a:r>
              <a:rPr sz="1100" b="0">
                <a:solidFill>
                  <a:srgbClr val="6B7280"/>
                </a:solidFill>
                <a:latin typeface="Calibri"/>
              </a:rPr>
              <a:t>Gold/Silver/Bronze tiers. BOGO, bundle, and storewide promos resolved server-side at checkout.</a:t>
            </a:r>
          </a:p>
        </p:txBody>
      </p:sp>
      <p:sp>
        <p:nvSpPr>
          <p:cNvPr id="11" name="Rounded Rectangle 10"/>
          <p:cNvSpPr/>
          <p:nvPr/>
        </p:nvSpPr>
        <p:spPr>
          <a:xfrm>
            <a:off x="8097316" y="2011680"/>
            <a:ext cx="3545738" cy="1851660"/>
          </a:xfrm>
          <a:prstGeom prst="roundRect">
            <a:avLst>
              <a:gd name="adj" fmla="val 6000"/>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5916" y="2240280"/>
            <a:ext cx="36576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5916" y="2423160"/>
            <a:ext cx="3088538" cy="1303020"/>
          </a:xfrm>
          <a:prstGeom prst="rect">
            <a:avLst/>
          </a:prstGeom>
          <a:noFill/>
        </p:spPr>
        <p:txBody>
          <a:bodyPr wrap="square" lIns="45720" rIns="45720" tIns="18288" bIns="18288" anchor="t">
            <a:spAutoFit/>
          </a:bodyPr>
          <a:lstStyle/>
          <a:p>
            <a:pPr algn="l">
              <a:spcAft>
                <a:spcPts val="600"/>
              </a:spcAft>
            </a:pPr>
            <a:r>
              <a:rPr sz="1500" b="1">
                <a:solidFill>
                  <a:srgbClr val="1F2937"/>
                </a:solidFill>
                <a:latin typeface="Calibri"/>
              </a:rPr>
              <a:t>Routes &amp; scheduled visits</a:t>
            </a:r>
          </a:p>
          <a:p>
            <a:pPr algn="l">
              <a:spcAft>
                <a:spcPts val="0"/>
              </a:spcAft>
            </a:pPr>
            <a:r>
              <a:rPr sz="1100" b="0">
                <a:solidFill>
                  <a:srgbClr val="6B7280"/>
                </a:solidFill>
                <a:latin typeface="Calibri"/>
              </a:rPr>
              <a:t>Field reps follow a planned route with stops, change requests, and on-site signature capture.</a:t>
            </a:r>
          </a:p>
        </p:txBody>
      </p:sp>
      <p:sp>
        <p:nvSpPr>
          <p:cNvPr id="14" name="Rounded Rectangle 13"/>
          <p:cNvSpPr/>
          <p:nvPr/>
        </p:nvSpPr>
        <p:spPr>
          <a:xfrm>
            <a:off x="548640" y="4091940"/>
            <a:ext cx="3545738" cy="1851660"/>
          </a:xfrm>
          <a:prstGeom prst="roundRect">
            <a:avLst>
              <a:gd name="adj" fmla="val 6000"/>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320540"/>
            <a:ext cx="36576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503420"/>
            <a:ext cx="3088538" cy="1303020"/>
          </a:xfrm>
          <a:prstGeom prst="rect">
            <a:avLst/>
          </a:prstGeom>
          <a:noFill/>
        </p:spPr>
        <p:txBody>
          <a:bodyPr wrap="square" lIns="45720" rIns="45720" tIns="18288" bIns="18288" anchor="t">
            <a:spAutoFit/>
          </a:bodyPr>
          <a:lstStyle/>
          <a:p>
            <a:pPr algn="l">
              <a:spcAft>
                <a:spcPts val="600"/>
              </a:spcAft>
            </a:pPr>
            <a:r>
              <a:rPr sz="1500" b="1">
                <a:solidFill>
                  <a:srgbClr val="1F2937"/>
                </a:solidFill>
                <a:latin typeface="Calibri"/>
              </a:rPr>
              <a:t>Realtime cross-role visibility</a:t>
            </a:r>
          </a:p>
          <a:p>
            <a:pPr algn="l">
              <a:spcAft>
                <a:spcPts val="0"/>
              </a:spcAft>
            </a:pPr>
            <a:r>
              <a:rPr sz="1100" b="0">
                <a:solidFill>
                  <a:srgbClr val="6B7280"/>
                </a:solidFill>
                <a:latin typeface="Calibri"/>
              </a:rPr>
              <a:t>Postgres LISTEN/NOTIFY + TanStack Query invalidation. Every role sees new orders without refresh.</a:t>
            </a:r>
          </a:p>
        </p:txBody>
      </p:sp>
      <p:sp>
        <p:nvSpPr>
          <p:cNvPr id="17" name="Rounded Rectangle 16"/>
          <p:cNvSpPr/>
          <p:nvPr/>
        </p:nvSpPr>
        <p:spPr>
          <a:xfrm>
            <a:off x="4322978" y="4091940"/>
            <a:ext cx="3545738" cy="1851660"/>
          </a:xfrm>
          <a:prstGeom prst="roundRect">
            <a:avLst>
              <a:gd name="adj" fmla="val 6000"/>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51578" y="4320540"/>
            <a:ext cx="36576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51578" y="4503420"/>
            <a:ext cx="3088538" cy="1303020"/>
          </a:xfrm>
          <a:prstGeom prst="rect">
            <a:avLst/>
          </a:prstGeom>
          <a:noFill/>
        </p:spPr>
        <p:txBody>
          <a:bodyPr wrap="square" lIns="45720" rIns="45720" tIns="18288" bIns="18288" anchor="t">
            <a:spAutoFit/>
          </a:bodyPr>
          <a:lstStyle/>
          <a:p>
            <a:pPr algn="l">
              <a:spcAft>
                <a:spcPts val="600"/>
              </a:spcAft>
            </a:pPr>
            <a:r>
              <a:rPr sz="1500" b="1">
                <a:solidFill>
                  <a:srgbClr val="1F2937"/>
                </a:solidFill>
                <a:latin typeface="Calibri"/>
              </a:rPr>
              <a:t>Role-based access + audit log</a:t>
            </a:r>
          </a:p>
          <a:p>
            <a:pPr algn="l">
              <a:spcAft>
                <a:spcPts val="0"/>
              </a:spcAft>
            </a:pPr>
            <a:r>
              <a:rPr sz="1100" b="0">
                <a:solidFill>
                  <a:srgbClr val="6B7280"/>
                </a:solidFill>
                <a:latin typeface="Calibri"/>
              </a:rPr>
              <a:t>Five roles, RLS-locked tables. Every privileged write recorded with before/after diff.</a:t>
            </a:r>
          </a:p>
        </p:txBody>
      </p:sp>
      <p:sp>
        <p:nvSpPr>
          <p:cNvPr id="20" name="Rounded Rectangle 19"/>
          <p:cNvSpPr/>
          <p:nvPr/>
        </p:nvSpPr>
        <p:spPr>
          <a:xfrm>
            <a:off x="8097316" y="4091940"/>
            <a:ext cx="3545738" cy="1851660"/>
          </a:xfrm>
          <a:prstGeom prst="roundRect">
            <a:avLst>
              <a:gd name="adj" fmla="val 6000"/>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5916" y="4320540"/>
            <a:ext cx="36576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5916" y="4503420"/>
            <a:ext cx="3088538" cy="1303020"/>
          </a:xfrm>
          <a:prstGeom prst="rect">
            <a:avLst/>
          </a:prstGeom>
          <a:noFill/>
        </p:spPr>
        <p:txBody>
          <a:bodyPr wrap="square" lIns="45720" rIns="45720" tIns="18288" bIns="18288" anchor="t">
            <a:spAutoFit/>
          </a:bodyPr>
          <a:lstStyle/>
          <a:p>
            <a:pPr algn="l">
              <a:spcAft>
                <a:spcPts val="600"/>
              </a:spcAft>
            </a:pPr>
            <a:r>
              <a:rPr sz="1500" b="1">
                <a:solidFill>
                  <a:srgbClr val="1F2937"/>
                </a:solidFill>
                <a:latin typeface="Calibri"/>
              </a:rPr>
              <a:t>Stock, invoicing &amp; accounting</a:t>
            </a:r>
          </a:p>
          <a:p>
            <a:pPr algn="l">
              <a:spcAft>
                <a:spcPts val="0"/>
              </a:spcAft>
            </a:pPr>
            <a:r>
              <a:rPr sz="1100" b="0">
                <a:solidFill>
                  <a:srgbClr val="6B7280"/>
                </a:solidFill>
                <a:latin typeface="Calibri"/>
              </a:rPr>
              <a:t>Live inventory, aging report, credit-limit checks, low-stock alerts.</a:t>
            </a:r>
          </a:p>
        </p:txBody>
      </p:sp>
      <p:sp>
        <p:nvSpPr>
          <p:cNvPr id="23" name="TextBox 22"/>
          <p:cNvSpPr txBox="1"/>
          <p:nvPr/>
        </p:nvSpPr>
        <p:spPr>
          <a:xfrm>
            <a:off x="548640" y="6126480"/>
            <a:ext cx="11064240" cy="365760"/>
          </a:xfrm>
          <a:prstGeom prst="rect">
            <a:avLst/>
          </a:prstGeom>
          <a:noFill/>
        </p:spPr>
        <p:txBody>
          <a:bodyPr wrap="square" lIns="45720" rIns="45720" tIns="18288" bIns="18288" anchor="t">
            <a:spAutoFit/>
          </a:bodyPr>
          <a:lstStyle/>
          <a:p>
            <a:pPr algn="ctr">
              <a:spcAft>
                <a:spcPts val="400"/>
              </a:spcAft>
            </a:pPr>
            <a:r>
              <a:rPr sz="1000" b="0">
                <a:solidFill>
                  <a:srgbClr val="6B7280"/>
                </a:solidFill>
                <a:latin typeface="Calibri"/>
              </a:rPr>
              <a:t>13 Edge Functions   •   5 roles   •   Postgres + RLS   •   React 19 / TypeScript / Tailwind   •   Vercel + Supabase</a:t>
            </a:r>
          </a:p>
        </p:txBody>
      </p:sp>
      <p:sp>
        <p:nvSpPr>
          <p:cNvPr id="24" name="TextBox 23"/>
          <p:cNvSpPr txBox="1"/>
          <p:nvPr/>
        </p:nvSpPr>
        <p:spPr>
          <a:xfrm>
            <a:off x="548640" y="6446520"/>
            <a:ext cx="11064240" cy="320040"/>
          </a:xfrm>
          <a:prstGeom prst="rect">
            <a:avLst/>
          </a:prstGeom>
          <a:noFill/>
        </p:spPr>
        <p:txBody>
          <a:bodyPr wrap="square" lIns="45720" rIns="45720" tIns="18288" bIns="18288" anchor="t">
            <a:spAutoFit/>
          </a:bodyPr>
          <a:lstStyle/>
          <a:p>
            <a:pPr algn="l">
              <a:spcAft>
                <a:spcPts val="400"/>
              </a:spcAft>
            </a:pPr>
            <a:r>
              <a:rPr sz="900" b="0">
                <a:solidFill>
                  <a:srgbClr val="6B7280"/>
                </a:solidFill>
                <a:latin typeface="Calibri"/>
              </a:rPr>
              <a:t>Nex Order   •   Capabilities   •   Page 4 of 5</a:t>
            </a:r>
          </a:p>
        </p:txBody>
      </p:sp>
      <p:cxnSp>
        <p:nvCxnSpPr>
          <p:cNvPr id="25" name="Connector 24"/>
          <p:cNvCxnSpPr/>
          <p:nvPr/>
        </p:nvCxnSpPr>
        <p:spPr>
          <a:xfrm>
            <a:off x="548640" y="6400800"/>
            <a:ext cx="11064240"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48640"/>
            <a:ext cx="54864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13232"/>
            <a:ext cx="5486400" cy="320040"/>
          </a:xfrm>
          <a:prstGeom prst="rect">
            <a:avLst/>
          </a:prstGeom>
          <a:noFill/>
        </p:spPr>
        <p:txBody>
          <a:bodyPr wrap="square" lIns="45720" rIns="45720" tIns="18288" bIns="18288" anchor="t">
            <a:spAutoFit/>
          </a:bodyPr>
          <a:lstStyle/>
          <a:p>
            <a:pPr algn="l">
              <a:spcAft>
                <a:spcPts val="400"/>
              </a:spcAft>
            </a:pPr>
            <a:r>
              <a:rPr sz="1100" b="1">
                <a:solidFill>
                  <a:srgbClr val="0EA5E9"/>
                </a:solidFill>
                <a:latin typeface="Calibri"/>
              </a:rPr>
              <a:t>LIVE DEMO</a:t>
            </a:r>
          </a:p>
        </p:txBody>
      </p:sp>
      <p:sp>
        <p:nvSpPr>
          <p:cNvPr id="4" name="TextBox 3"/>
          <p:cNvSpPr txBox="1"/>
          <p:nvPr/>
        </p:nvSpPr>
        <p:spPr>
          <a:xfrm>
            <a:off x="548640" y="1097280"/>
            <a:ext cx="11064240" cy="914400"/>
          </a:xfrm>
          <a:prstGeom prst="rect">
            <a:avLst/>
          </a:prstGeom>
          <a:noFill/>
        </p:spPr>
        <p:txBody>
          <a:bodyPr wrap="square" lIns="45720" rIns="45720" tIns="18288" bIns="18288" anchor="t">
            <a:spAutoFit/>
          </a:bodyPr>
          <a:lstStyle/>
          <a:p>
            <a:pPr algn="l">
              <a:spcAft>
                <a:spcPts val="400"/>
              </a:spcAft>
            </a:pPr>
            <a:r>
              <a:rPr sz="4000" b="1">
                <a:solidFill>
                  <a:srgbClr val="1F2937"/>
                </a:solidFill>
                <a:latin typeface="Calibri"/>
              </a:rPr>
              <a:t>Let's see it work.</a:t>
            </a:r>
          </a:p>
        </p:txBody>
      </p:sp>
      <p:sp>
        <p:nvSpPr>
          <p:cNvPr id="5" name="Oval 4"/>
          <p:cNvSpPr/>
          <p:nvPr/>
        </p:nvSpPr>
        <p:spPr>
          <a:xfrm>
            <a:off x="548640" y="2468880"/>
            <a:ext cx="640080" cy="6400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542032"/>
            <a:ext cx="640080" cy="502920"/>
          </a:xfrm>
          <a:prstGeom prst="rect">
            <a:avLst/>
          </a:prstGeom>
          <a:noFill/>
        </p:spPr>
        <p:txBody>
          <a:bodyPr wrap="square" lIns="45720" rIns="45720" tIns="18288" bIns="18288" anchor="t">
            <a:spAutoFit/>
          </a:bodyPr>
          <a:lstStyle/>
          <a:p>
            <a:pPr algn="ctr">
              <a:spcAft>
                <a:spcPts val="400"/>
              </a:spcAft>
            </a:pPr>
            <a:r>
              <a:rPr sz="1600" b="1">
                <a:solidFill>
                  <a:srgbClr val="FFFFFF"/>
                </a:solidFill>
                <a:latin typeface="Calibri"/>
              </a:rPr>
              <a:t>01</a:t>
            </a:r>
          </a:p>
        </p:txBody>
      </p:sp>
      <p:sp>
        <p:nvSpPr>
          <p:cNvPr id="7" name="TextBox 6"/>
          <p:cNvSpPr txBox="1"/>
          <p:nvPr/>
        </p:nvSpPr>
        <p:spPr>
          <a:xfrm>
            <a:off x="1463040" y="2423160"/>
            <a:ext cx="5943600" cy="1051560"/>
          </a:xfrm>
          <a:prstGeom prst="rect">
            <a:avLst/>
          </a:prstGeom>
          <a:noFill/>
        </p:spPr>
        <p:txBody>
          <a:bodyPr wrap="square" lIns="45720" rIns="45720" tIns="18288" bIns="18288" anchor="t">
            <a:spAutoFit/>
          </a:bodyPr>
          <a:lstStyle/>
          <a:p>
            <a:pPr algn="l">
              <a:spcAft>
                <a:spcPts val="200"/>
              </a:spcAft>
            </a:pPr>
            <a:r>
              <a:rPr sz="1500" b="1">
                <a:solidFill>
                  <a:srgbClr val="1F2937"/>
                </a:solidFill>
                <a:latin typeface="Calibri"/>
              </a:rPr>
              <a:t>A restaurant places an order from their phone</a:t>
            </a:r>
          </a:p>
          <a:p>
            <a:pPr algn="l">
              <a:spcAft>
                <a:spcPts val="0"/>
              </a:spcAft>
            </a:pPr>
            <a:r>
              <a:rPr sz="1100" b="0">
                <a:solidFill>
                  <a:srgbClr val="6B7280"/>
                </a:solidFill>
                <a:latin typeface="Calibri"/>
              </a:rPr>
              <a:t>Pantry, promos, tier pricing — no phone call.</a:t>
            </a:r>
          </a:p>
        </p:txBody>
      </p:sp>
      <p:sp>
        <p:nvSpPr>
          <p:cNvPr id="8" name="Oval 7"/>
          <p:cNvSpPr/>
          <p:nvPr/>
        </p:nvSpPr>
        <p:spPr>
          <a:xfrm>
            <a:off x="548640" y="3611880"/>
            <a:ext cx="640080" cy="6400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685032"/>
            <a:ext cx="640080" cy="502920"/>
          </a:xfrm>
          <a:prstGeom prst="rect">
            <a:avLst/>
          </a:prstGeom>
          <a:noFill/>
        </p:spPr>
        <p:txBody>
          <a:bodyPr wrap="square" lIns="45720" rIns="45720" tIns="18288" bIns="18288" anchor="t">
            <a:spAutoFit/>
          </a:bodyPr>
          <a:lstStyle/>
          <a:p>
            <a:pPr algn="ctr">
              <a:spcAft>
                <a:spcPts val="400"/>
              </a:spcAft>
            </a:pPr>
            <a:r>
              <a:rPr sz="1600" b="1">
                <a:solidFill>
                  <a:srgbClr val="FFFFFF"/>
                </a:solidFill>
                <a:latin typeface="Calibri"/>
              </a:rPr>
              <a:t>02</a:t>
            </a:r>
          </a:p>
        </p:txBody>
      </p:sp>
      <p:sp>
        <p:nvSpPr>
          <p:cNvPr id="10" name="TextBox 9"/>
          <p:cNvSpPr txBox="1"/>
          <p:nvPr/>
        </p:nvSpPr>
        <p:spPr>
          <a:xfrm>
            <a:off x="1463040" y="3566160"/>
            <a:ext cx="5943600" cy="1051560"/>
          </a:xfrm>
          <a:prstGeom prst="rect">
            <a:avLst/>
          </a:prstGeom>
          <a:noFill/>
        </p:spPr>
        <p:txBody>
          <a:bodyPr wrap="square" lIns="45720" rIns="45720" tIns="18288" bIns="18288" anchor="t">
            <a:spAutoFit/>
          </a:bodyPr>
          <a:lstStyle/>
          <a:p>
            <a:pPr algn="l">
              <a:spcAft>
                <a:spcPts val="200"/>
              </a:spcAft>
            </a:pPr>
            <a:r>
              <a:rPr sz="1500" b="1">
                <a:solidFill>
                  <a:srgbClr val="1F2937"/>
                </a:solidFill>
                <a:latin typeface="Calibri"/>
              </a:rPr>
              <a:t>A field rep tops it up during a planned visit</a:t>
            </a:r>
          </a:p>
          <a:p>
            <a:pPr algn="l">
              <a:spcAft>
                <a:spcPts val="0"/>
              </a:spcAft>
            </a:pPr>
            <a:r>
              <a:rPr sz="1100" b="0">
                <a:solidFill>
                  <a:srgbClr val="6B7280"/>
                </a:solidFill>
                <a:latin typeface="Calibri"/>
              </a:rPr>
              <a:t>Signature on glass, route updates in realtime.</a:t>
            </a:r>
          </a:p>
        </p:txBody>
      </p:sp>
      <p:sp>
        <p:nvSpPr>
          <p:cNvPr id="11" name="Oval 10"/>
          <p:cNvSpPr/>
          <p:nvPr/>
        </p:nvSpPr>
        <p:spPr>
          <a:xfrm>
            <a:off x="548640" y="4754880"/>
            <a:ext cx="640080" cy="6400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828032"/>
            <a:ext cx="640080" cy="502920"/>
          </a:xfrm>
          <a:prstGeom prst="rect">
            <a:avLst/>
          </a:prstGeom>
          <a:noFill/>
        </p:spPr>
        <p:txBody>
          <a:bodyPr wrap="square" lIns="45720" rIns="45720" tIns="18288" bIns="18288" anchor="t">
            <a:spAutoFit/>
          </a:bodyPr>
          <a:lstStyle/>
          <a:p>
            <a:pPr algn="ctr">
              <a:spcAft>
                <a:spcPts val="400"/>
              </a:spcAft>
            </a:pPr>
            <a:r>
              <a:rPr sz="1600" b="1">
                <a:solidFill>
                  <a:srgbClr val="FFFFFF"/>
                </a:solidFill>
                <a:latin typeface="Calibri"/>
              </a:rPr>
              <a:t>03</a:t>
            </a:r>
          </a:p>
        </p:txBody>
      </p:sp>
      <p:sp>
        <p:nvSpPr>
          <p:cNvPr id="13" name="TextBox 12"/>
          <p:cNvSpPr txBox="1"/>
          <p:nvPr/>
        </p:nvSpPr>
        <p:spPr>
          <a:xfrm>
            <a:off x="1463040" y="4709160"/>
            <a:ext cx="5943600" cy="1051560"/>
          </a:xfrm>
          <a:prstGeom prst="rect">
            <a:avLst/>
          </a:prstGeom>
          <a:noFill/>
        </p:spPr>
        <p:txBody>
          <a:bodyPr wrap="square" lIns="45720" rIns="45720" tIns="18288" bIns="18288" anchor="t">
            <a:spAutoFit/>
          </a:bodyPr>
          <a:lstStyle/>
          <a:p>
            <a:pPr algn="l">
              <a:spcAft>
                <a:spcPts val="200"/>
              </a:spcAft>
            </a:pPr>
            <a:r>
              <a:rPr sz="1500" b="1">
                <a:solidFill>
                  <a:srgbClr val="1F2937"/>
                </a:solidFill>
                <a:latin typeface="Calibri"/>
              </a:rPr>
              <a:t>The back office sees both orders the moment they land</a:t>
            </a:r>
          </a:p>
          <a:p>
            <a:pPr algn="l">
              <a:spcAft>
                <a:spcPts val="0"/>
              </a:spcAft>
            </a:pPr>
            <a:r>
              <a:rPr sz="1100" b="0">
                <a:solidFill>
                  <a:srgbClr val="6B7280"/>
                </a:solidFill>
                <a:latin typeface="Calibri"/>
              </a:rPr>
              <a:t>Confirms, packs, and audits — no refresh required.</a:t>
            </a:r>
          </a:p>
        </p:txBody>
      </p:sp>
      <p:sp>
        <p:nvSpPr>
          <p:cNvPr id="14" name="Rounded Rectangle 13"/>
          <p:cNvSpPr/>
          <p:nvPr/>
        </p:nvSpPr>
        <p:spPr>
          <a:xfrm>
            <a:off x="7863840" y="2377440"/>
            <a:ext cx="3749039" cy="3429000"/>
          </a:xfrm>
          <a:prstGeom prst="roundRect">
            <a:avLst>
              <a:gd name="adj" fmla="val 6000"/>
            </a:avLst>
          </a:prstGeom>
          <a:solidFill>
            <a:srgbClr val="1F293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2651760"/>
            <a:ext cx="3200399" cy="2880360"/>
          </a:xfrm>
          <a:prstGeom prst="rect">
            <a:avLst/>
          </a:prstGeom>
          <a:noFill/>
        </p:spPr>
        <p:txBody>
          <a:bodyPr wrap="square" lIns="45720" rIns="45720" tIns="18288" bIns="18288" anchor="t">
            <a:spAutoFit/>
          </a:bodyPr>
          <a:lstStyle/>
          <a:p>
            <a:pPr algn="l">
              <a:spcAft>
                <a:spcPts val="1000"/>
              </a:spcAft>
            </a:pPr>
            <a:r>
              <a:rPr sz="1100" b="1">
                <a:solidFill>
                  <a:srgbClr val="0EA5E9"/>
                </a:solidFill>
                <a:latin typeface="Calibri"/>
              </a:rPr>
              <a:t>NEXT STEPS</a:t>
            </a:r>
          </a:p>
          <a:p>
            <a:pPr algn="l">
              <a:spcAft>
                <a:spcPts val="200"/>
              </a:spcAft>
            </a:pPr>
            <a:r>
              <a:rPr sz="1400" b="1">
                <a:solidFill>
                  <a:srgbClr val="FFFFFF"/>
                </a:solidFill>
                <a:latin typeface="Calibri"/>
              </a:rPr>
              <a:t>1.  Sandbox account</a:t>
            </a:r>
          </a:p>
          <a:p>
            <a:pPr algn="l">
              <a:spcAft>
                <a:spcPts val="1200"/>
              </a:spcAft>
            </a:pPr>
            <a:r>
              <a:rPr sz="1000" b="0">
                <a:solidFill>
                  <a:srgbClr val="E5E7EB"/>
                </a:solidFill>
                <a:latin typeface="Calibri"/>
              </a:rPr>
              <a:t>Your team logs in within 24 hours.</a:t>
            </a:r>
          </a:p>
          <a:p>
            <a:pPr algn="l">
              <a:spcAft>
                <a:spcPts val="200"/>
              </a:spcAft>
            </a:pPr>
            <a:r>
              <a:rPr sz="1400" b="1">
                <a:solidFill>
                  <a:srgbClr val="FFFFFF"/>
                </a:solidFill>
                <a:latin typeface="Calibri"/>
              </a:rPr>
              <a:t>2.  Scoping call</a:t>
            </a:r>
          </a:p>
          <a:p>
            <a:pPr algn="l">
              <a:spcAft>
                <a:spcPts val="1200"/>
              </a:spcAft>
            </a:pPr>
            <a:r>
              <a:rPr sz="1000" b="0">
                <a:solidFill>
                  <a:srgbClr val="E5E7EB"/>
                </a:solidFill>
                <a:latin typeface="Calibri"/>
              </a:rPr>
              <a:t>Map your channels, tiers, and promos.</a:t>
            </a:r>
          </a:p>
          <a:p>
            <a:pPr algn="l">
              <a:spcAft>
                <a:spcPts val="200"/>
              </a:spcAft>
            </a:pPr>
            <a:r>
              <a:rPr sz="1400" b="1">
                <a:solidFill>
                  <a:srgbClr val="FFFFFF"/>
                </a:solidFill>
                <a:latin typeface="Calibri"/>
              </a:rPr>
              <a:t>3.  Rollout plan</a:t>
            </a:r>
          </a:p>
          <a:p>
            <a:pPr algn="l">
              <a:spcAft>
                <a:spcPts val="0"/>
              </a:spcAft>
            </a:pPr>
            <a:r>
              <a:rPr sz="1000" b="0">
                <a:solidFill>
                  <a:srgbClr val="E5E7EB"/>
                </a:solidFill>
                <a:latin typeface="Calibri"/>
              </a:rPr>
              <a:t>Pilot with one branch, then scale.</a:t>
            </a:r>
          </a:p>
        </p:txBody>
      </p:sp>
      <p:sp>
        <p:nvSpPr>
          <p:cNvPr id="16" name="TextBox 15"/>
          <p:cNvSpPr txBox="1"/>
          <p:nvPr/>
        </p:nvSpPr>
        <p:spPr>
          <a:xfrm>
            <a:off x="548640" y="6080760"/>
            <a:ext cx="11064240" cy="365760"/>
          </a:xfrm>
          <a:prstGeom prst="rect">
            <a:avLst/>
          </a:prstGeom>
          <a:noFill/>
        </p:spPr>
        <p:txBody>
          <a:bodyPr wrap="square" lIns="45720" rIns="45720" tIns="18288" bIns="18288" anchor="t">
            <a:spAutoFit/>
          </a:bodyPr>
          <a:lstStyle/>
          <a:p>
            <a:pPr algn="ctr">
              <a:spcAft>
                <a:spcPts val="400"/>
              </a:spcAft>
            </a:pPr>
            <a:r>
              <a:rPr sz="1100" b="1">
                <a:solidFill>
                  <a:srgbClr val="0EA5E9"/>
                </a:solidFill>
                <a:latin typeface="Calibri"/>
              </a:rPr>
              <a:t>nexorder.vercel.app   •   contact: hello@nexorder.app</a:t>
            </a:r>
          </a:p>
        </p:txBody>
      </p:sp>
      <p:sp>
        <p:nvSpPr>
          <p:cNvPr id="17" name="TextBox 16"/>
          <p:cNvSpPr txBox="1"/>
          <p:nvPr/>
        </p:nvSpPr>
        <p:spPr>
          <a:xfrm>
            <a:off x="548640" y="6446520"/>
            <a:ext cx="11064240" cy="320040"/>
          </a:xfrm>
          <a:prstGeom prst="rect">
            <a:avLst/>
          </a:prstGeom>
          <a:noFill/>
        </p:spPr>
        <p:txBody>
          <a:bodyPr wrap="square" lIns="45720" rIns="45720" tIns="18288" bIns="18288" anchor="t">
            <a:spAutoFit/>
          </a:bodyPr>
          <a:lstStyle/>
          <a:p>
            <a:pPr algn="l">
              <a:spcAft>
                <a:spcPts val="400"/>
              </a:spcAft>
            </a:pPr>
            <a:r>
              <a:rPr sz="900" b="0">
                <a:solidFill>
                  <a:srgbClr val="6B7280"/>
                </a:solidFill>
                <a:latin typeface="Calibri"/>
              </a:rPr>
              <a:t>Nex Order   •   Live demo   •   Page 5 of 5</a:t>
            </a:r>
          </a:p>
        </p:txBody>
      </p:sp>
      <p:cxnSp>
        <p:nvCxnSpPr>
          <p:cNvPr id="18" name="Connector 17"/>
          <p:cNvCxnSpPr/>
          <p:nvPr/>
        </p:nvCxnSpPr>
        <p:spPr>
          <a:xfrm>
            <a:off x="548640" y="6400800"/>
            <a:ext cx="11064240" cy="0"/>
          </a:xfrm>
          <a:prstGeom prst="line">
            <a:avLst/>
          </a:prstGeom>
          <a:ln w="6350">
            <a:solidFill>
              <a:srgbClr val="E5E7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