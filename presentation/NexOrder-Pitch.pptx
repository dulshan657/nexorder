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Open with positioning. Nex Order is a generic B2B order-management platform that unifies every channel a distributor sells through — self-serve customers, telesales, field reps, and future EDI partners. What makes it different in 2026 isn't the UI, it's the architecture: one server-side gate makes pricing, promotions, stock, and audit behave identically no matter where the order came from. We'll spend 10 minutes on slides, then move into a live walkthrough on the URL shown at the bottom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Use a call-and-response framing here. Ask the audience: 'Whichever of these three is biggest for you today, raise a hand.' All three have the same root cause — fragmented intake. Phone orders, spreadsheet pricing, and missing audit trails are symptoms of the same architectural gap. Nex Order is the answer: one entry point, one rules engine, one log. Bridge to Slide 3: 'Let me show you how it actually 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Walk this slide left to right. Spend 30 seconds per intake channel: self-serve is the customer's phone or laptop; telesales is the office rep keying it in with a call-reference number; field reps capture a customer signature on a tablet; the fourth box is now LIVE — emailed purchase orders are read by AI, reviewed, and turned into real orders (full detail on the next slide); WhatsApp and EDI are the remaining roadmap. The middle column is the architectural moat. Every intake channel hits the same Edge Function. That means pricing, promos, stock checks, and audit are guaranteed identical. The right column is what happens next — a deterministic pipeline that ops teams can rely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Don't read the grid. Pick three to spotlight — the ones that match the prospect's biggest pain. For most distributors, lead with Pantry intelligence (it removes 80% of phone time), then Tier pricing &amp; promotions (it stops margin leaks), then Routes (it turns field reps into a controlled channel). Mention Realtime, Audit, and Stock as 'and you also get…'. Bridge to Slide 5: 'Let me actually show you each of the three I just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This slide answers the objection you always get: 'our customers won't learn an app.' They don't have to. Most B2B buyers still send a purchase order by email or PDF — so we meet them there. Walk the four stages left to right: a connected mailbox is polled; the AI reads the PDF and body, ignores the email signature, and matches the sender to a customer and the free-text lines to your products — and it LEARNS, so the same buyer's next PO is a known quantity. Clean, confident, in-stock orders auto-approve with zero clicks; anything uncertain or short on stock is held with a confidence score and clear flags for a human. Approve, and it's a real order in the same list, realtime feed, and audit log as every other channel. One honest nuance for technical buyers: inbound POs land as orders for review — tier pricing and promotions are applied by ops at that point, not yet auto-resolved like the live cart. Bridge to the demo: 'Let me show you one land and get approved.'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b="0">
                <a:solidFill>
                  <a:srgbClr val="1F2937"/>
                </a:solidFill>
                <a:latin typeface="Calibri"/>
              </a:rPr>
              <a:t>Brief slide — under 30 seconds. Set expectations: three acts, one continuous story. Maya the customer, Charlie the field rep, Alice the admin. The URL is on screen if anyone wants to follow along on their laptop. After the demo, return here for next steps and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64008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77240"/>
            <a:ext cx="5486400" cy="365760"/>
          </a:xfrm>
          <a:prstGeom prst="rect">
            <a:avLst/>
          </a:prstGeom>
          <a:noFill/>
        </p:spPr>
        <p:txBody>
          <a:bodyPr wrap="square" lIns="45720" rIns="45720" tIns="18288" bIns="18288" anchor="t">
            <a:spAutoFit/>
          </a:bodyPr>
          <a:lstStyle/>
          <a:p>
            <a:pPr algn="l">
              <a:spcAft>
                <a:spcPts val="400"/>
              </a:spcAft>
            </a:pPr>
            <a:r>
              <a:rPr sz="1200" b="1">
                <a:solidFill>
                  <a:srgbClr val="0EA5E9"/>
                </a:solidFill>
                <a:latin typeface="Calibri"/>
              </a:rPr>
              <a:t>NEX ORDER</a:t>
            </a:r>
          </a:p>
        </p:txBody>
      </p:sp>
      <p:sp>
        <p:nvSpPr>
          <p:cNvPr id="4" name="TextBox 3"/>
          <p:cNvSpPr txBox="1"/>
          <p:nvPr/>
        </p:nvSpPr>
        <p:spPr>
          <a:xfrm>
            <a:off x="548640" y="1828800"/>
            <a:ext cx="10972800" cy="2286000"/>
          </a:xfrm>
          <a:prstGeom prst="rect">
            <a:avLst/>
          </a:prstGeom>
          <a:noFill/>
        </p:spPr>
        <p:txBody>
          <a:bodyPr wrap="square" lIns="45720" rIns="45720" tIns="18288" bIns="18288" anchor="t">
            <a:spAutoFit/>
          </a:bodyPr>
          <a:lstStyle/>
          <a:p>
            <a:pPr algn="l">
              <a:spcAft>
                <a:spcPts val="1400"/>
              </a:spcAft>
            </a:pPr>
            <a:r>
              <a:rPr sz="4800" b="1">
                <a:solidFill>
                  <a:srgbClr val="1F2937"/>
                </a:solidFill>
                <a:latin typeface="Calibri"/>
              </a:rPr>
              <a:t>One pipeline for every B2B order.</a:t>
            </a:r>
          </a:p>
          <a:p>
            <a:pPr algn="l">
              <a:spcAft>
                <a:spcPts val="0"/>
              </a:spcAft>
            </a:pPr>
            <a:r>
              <a:rPr sz="2000" b="0">
                <a:solidFill>
                  <a:srgbClr val="6B7280"/>
                </a:solidFill>
                <a:latin typeface="Calibri"/>
              </a:rPr>
              <a:t>Multi-channel order intake, tier-aware pricing, route-driven field sales, and a live audit trail. Built for distributors and wholesalers.</a:t>
            </a:r>
          </a:p>
        </p:txBody>
      </p:sp>
      <p:sp>
        <p:nvSpPr>
          <p:cNvPr id="5" name="TextBox 4"/>
          <p:cNvSpPr txBox="1"/>
          <p:nvPr/>
        </p:nvSpPr>
        <p:spPr>
          <a:xfrm>
            <a:off x="548640" y="5120640"/>
            <a:ext cx="10972800" cy="914400"/>
          </a:xfrm>
          <a:prstGeom prst="rect">
            <a:avLst/>
          </a:prstGeom>
          <a:noFill/>
        </p:spPr>
        <p:txBody>
          <a:bodyPr wrap="square" lIns="45720" rIns="45720" tIns="18288" bIns="18288" anchor="t">
            <a:spAutoFit/>
          </a:bodyPr>
          <a:lstStyle/>
          <a:p>
            <a:pPr algn="l">
              <a:spcAft>
                <a:spcPts val="400"/>
              </a:spcAft>
            </a:pPr>
            <a:r>
              <a:rPr sz="1400" b="0">
                <a:solidFill>
                  <a:srgbClr val="1F2937"/>
                </a:solidFill>
                <a:latin typeface="Calibri"/>
              </a:rPr>
              <a:t>Proven on a live distributor deployment running on Supabase + Vercel.</a:t>
            </a:r>
          </a:p>
          <a:p>
            <a:pPr algn="l">
              <a:spcAft>
                <a:spcPts val="400"/>
              </a:spcAft>
            </a:pPr>
            <a:r>
              <a:rPr sz="1200" b="1">
                <a:solidFill>
                  <a:srgbClr val="0EA5E9"/>
                </a:solidFill>
                <a:latin typeface="Calibri"/>
              </a:rPr>
              <a:t>Live demo: nexorder.vercel.app</a:t>
            </a:r>
          </a:p>
        </p:txBody>
      </p:sp>
      <p:sp>
        <p:nvSpPr>
          <p:cNvPr id="6" name="TextBox 5"/>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Pitch deck   •   Page 1 of 6</a:t>
            </a:r>
          </a:p>
        </p:txBody>
      </p:sp>
      <p:cxnSp>
        <p:nvCxnSpPr>
          <p:cNvPr id="7" name="Connector 6"/>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13232"/>
            <a:ext cx="5486400" cy="32004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THE PROBLEM</a:t>
            </a:r>
          </a:p>
        </p:txBody>
      </p:sp>
      <p:sp>
        <p:nvSpPr>
          <p:cNvPr id="4" name="TextBox 3"/>
          <p:cNvSpPr txBox="1"/>
          <p:nvPr/>
        </p:nvSpPr>
        <p:spPr>
          <a:xfrm>
            <a:off x="548640" y="1097280"/>
            <a:ext cx="11064240" cy="1280160"/>
          </a:xfrm>
          <a:prstGeom prst="rect">
            <a:avLst/>
          </a:prstGeom>
          <a:noFill/>
        </p:spPr>
        <p:txBody>
          <a:bodyPr wrap="square" lIns="45720" rIns="45720" tIns="18288" bIns="18288" anchor="t">
            <a:spAutoFit/>
          </a:bodyPr>
          <a:lstStyle/>
          <a:p>
            <a:pPr algn="l">
              <a:spcAft>
                <a:spcPts val="400"/>
              </a:spcAft>
            </a:pPr>
            <a:r>
              <a:rPr sz="3400" b="1">
                <a:solidFill>
                  <a:srgbClr val="1F2937"/>
                </a:solidFill>
                <a:latin typeface="Calibri"/>
              </a:rPr>
              <a:t>Orders come from everywhere.</a:t>
            </a:r>
          </a:p>
          <a:p>
            <a:pPr algn="l">
              <a:spcAft>
                <a:spcPts val="0"/>
              </a:spcAft>
            </a:pPr>
            <a:r>
              <a:rPr sz="2400" b="0">
                <a:solidFill>
                  <a:srgbClr val="6B7280"/>
                </a:solidFill>
                <a:latin typeface="Calibri"/>
              </a:rPr>
              <a:t>Most ops teams can't see them in one place.</a:t>
            </a:r>
          </a:p>
        </p:txBody>
      </p:sp>
      <p:sp>
        <p:nvSpPr>
          <p:cNvPr id="5" name="Rounded Rectangle 4"/>
          <p:cNvSpPr/>
          <p:nvPr/>
        </p:nvSpPr>
        <p:spPr>
          <a:xfrm>
            <a:off x="548640" y="3108960"/>
            <a:ext cx="3545738" cy="2377440"/>
          </a:xfrm>
          <a:prstGeom prst="roundRect">
            <a:avLst>
              <a:gd name="adj" fmla="val 6000"/>
            </a:avLst>
          </a:prstGeom>
          <a:solidFill>
            <a:srgbClr val="F8FAFC"/>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337560"/>
            <a:ext cx="2997098" cy="1920240"/>
          </a:xfrm>
          <a:prstGeom prst="rect">
            <a:avLst/>
          </a:prstGeom>
          <a:noFill/>
        </p:spPr>
        <p:txBody>
          <a:bodyPr wrap="square" lIns="45720" rIns="45720" tIns="18288" bIns="18288" anchor="t">
            <a:spAutoFit/>
          </a:bodyPr>
          <a:lstStyle/>
          <a:p>
            <a:pPr algn="l">
              <a:spcAft>
                <a:spcPts val="800"/>
              </a:spcAft>
            </a:pPr>
            <a:r>
              <a:rPr sz="1400" b="1">
                <a:solidFill>
                  <a:srgbClr val="0EA5E9"/>
                </a:solidFill>
                <a:latin typeface="Calibri"/>
              </a:rPr>
              <a:t>01</a:t>
            </a:r>
          </a:p>
          <a:p>
            <a:pPr algn="l">
              <a:spcAft>
                <a:spcPts val="800"/>
              </a:spcAft>
            </a:pPr>
            <a:r>
              <a:rPr sz="1800" b="1">
                <a:solidFill>
                  <a:srgbClr val="1F2937"/>
                </a:solidFill>
                <a:latin typeface="Calibri"/>
              </a:rPr>
              <a:t>Phone &amp; WhatsApp chaos</a:t>
            </a:r>
          </a:p>
          <a:p>
            <a:pPr algn="l">
              <a:spcAft>
                <a:spcPts val="0"/>
              </a:spcAft>
            </a:pPr>
            <a:r>
              <a:rPr sz="1200" b="0">
                <a:solidFill>
                  <a:srgbClr val="6B7280"/>
                </a:solidFill>
                <a:latin typeface="Calibri"/>
              </a:rPr>
              <a:t>Orders take 12+ minutes per call. Errors caught after delivery, blame impossible to assign.</a:t>
            </a:r>
          </a:p>
        </p:txBody>
      </p:sp>
      <p:sp>
        <p:nvSpPr>
          <p:cNvPr id="7" name="Rounded Rectangle 6"/>
          <p:cNvSpPr/>
          <p:nvPr/>
        </p:nvSpPr>
        <p:spPr>
          <a:xfrm>
            <a:off x="4322978" y="3108960"/>
            <a:ext cx="3545738" cy="2377440"/>
          </a:xfrm>
          <a:prstGeom prst="roundRect">
            <a:avLst>
              <a:gd name="adj" fmla="val 6000"/>
            </a:avLst>
          </a:prstGeom>
          <a:solidFill>
            <a:srgbClr val="F8FAFC"/>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3337560"/>
            <a:ext cx="2997098" cy="1920240"/>
          </a:xfrm>
          <a:prstGeom prst="rect">
            <a:avLst/>
          </a:prstGeom>
          <a:noFill/>
        </p:spPr>
        <p:txBody>
          <a:bodyPr wrap="square" lIns="45720" rIns="45720" tIns="18288" bIns="18288" anchor="t">
            <a:spAutoFit/>
          </a:bodyPr>
          <a:lstStyle/>
          <a:p>
            <a:pPr algn="l">
              <a:spcAft>
                <a:spcPts val="800"/>
              </a:spcAft>
            </a:pPr>
            <a:r>
              <a:rPr sz="1400" b="1">
                <a:solidFill>
                  <a:srgbClr val="0EA5E9"/>
                </a:solidFill>
                <a:latin typeface="Calibri"/>
              </a:rPr>
              <a:t>02</a:t>
            </a:r>
          </a:p>
          <a:p>
            <a:pPr algn="l">
              <a:spcAft>
                <a:spcPts val="800"/>
              </a:spcAft>
            </a:pPr>
            <a:r>
              <a:rPr sz="1800" b="1">
                <a:solidFill>
                  <a:srgbClr val="1F2937"/>
                </a:solidFill>
                <a:latin typeface="Calibri"/>
              </a:rPr>
              <a:t>Spreadsheet sprawl</a:t>
            </a:r>
          </a:p>
          <a:p>
            <a:pPr algn="l">
              <a:spcAft>
                <a:spcPts val="0"/>
              </a:spcAft>
            </a:pPr>
            <a:r>
              <a:rPr sz="1200" b="0">
                <a:solidFill>
                  <a:srgbClr val="6B7280"/>
                </a:solidFill>
                <a:latin typeface="Calibri"/>
              </a:rPr>
              <a:t>Pricing tiers and promotions fall behind. Margin leaks silently, rebuilt from memory each quarter.</a:t>
            </a:r>
          </a:p>
        </p:txBody>
      </p:sp>
      <p:sp>
        <p:nvSpPr>
          <p:cNvPr id="9" name="Rounded Rectangle 8"/>
          <p:cNvSpPr/>
          <p:nvPr/>
        </p:nvSpPr>
        <p:spPr>
          <a:xfrm>
            <a:off x="8097316" y="3108960"/>
            <a:ext cx="3545738" cy="2377440"/>
          </a:xfrm>
          <a:prstGeom prst="roundRect">
            <a:avLst>
              <a:gd name="adj" fmla="val 6000"/>
            </a:avLst>
          </a:prstGeom>
          <a:solidFill>
            <a:srgbClr val="F8FAFC"/>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71636" y="3337560"/>
            <a:ext cx="2997098" cy="1920240"/>
          </a:xfrm>
          <a:prstGeom prst="rect">
            <a:avLst/>
          </a:prstGeom>
          <a:noFill/>
        </p:spPr>
        <p:txBody>
          <a:bodyPr wrap="square" lIns="45720" rIns="45720" tIns="18288" bIns="18288" anchor="t">
            <a:spAutoFit/>
          </a:bodyPr>
          <a:lstStyle/>
          <a:p>
            <a:pPr algn="l">
              <a:spcAft>
                <a:spcPts val="800"/>
              </a:spcAft>
            </a:pPr>
            <a:r>
              <a:rPr sz="1400" b="1">
                <a:solidFill>
                  <a:srgbClr val="0EA5E9"/>
                </a:solidFill>
                <a:latin typeface="Calibri"/>
              </a:rPr>
              <a:t>03</a:t>
            </a:r>
          </a:p>
          <a:p>
            <a:pPr algn="l">
              <a:spcAft>
                <a:spcPts val="800"/>
              </a:spcAft>
            </a:pPr>
            <a:r>
              <a:rPr sz="1800" b="1">
                <a:solidFill>
                  <a:srgbClr val="1F2937"/>
                </a:solidFill>
                <a:latin typeface="Calibri"/>
              </a:rPr>
              <a:t>No paper trail</a:t>
            </a:r>
          </a:p>
          <a:p>
            <a:pPr algn="l">
              <a:spcAft>
                <a:spcPts val="0"/>
              </a:spcAft>
            </a:pPr>
            <a:r>
              <a:rPr sz="1200" b="0">
                <a:solidFill>
                  <a:srgbClr val="6B7280"/>
                </a:solidFill>
                <a:latin typeface="Calibri"/>
              </a:rPr>
              <a:t>When something goes wrong, nobody knows who changed what. Compliance and trust take the hit.</a:t>
            </a:r>
          </a:p>
        </p:txBody>
      </p:sp>
      <p:sp>
        <p:nvSpPr>
          <p:cNvPr id="11" name="TextBox 10"/>
          <p:cNvSpPr txBox="1"/>
          <p:nvPr/>
        </p:nvSpPr>
        <p:spPr>
          <a:xfrm>
            <a:off x="548640" y="5760720"/>
            <a:ext cx="10972800" cy="457200"/>
          </a:xfrm>
          <a:prstGeom prst="rect">
            <a:avLst/>
          </a:prstGeom>
          <a:noFill/>
        </p:spPr>
        <p:txBody>
          <a:bodyPr wrap="square" lIns="45720" rIns="45720" tIns="18288" bIns="18288" anchor="t">
            <a:spAutoFit/>
          </a:bodyPr>
          <a:lstStyle/>
          <a:p>
            <a:pPr algn="l">
              <a:spcAft>
                <a:spcPts val="0"/>
              </a:spcAft>
            </a:pPr>
            <a:r>
              <a:rPr sz="1400" b="1">
                <a:solidFill>
                  <a:srgbClr val="1F2937"/>
                </a:solidFill>
                <a:latin typeface="Calibri"/>
              </a:rPr>
              <a:t>Existing systems treat each channel separately. We unify them.</a:t>
            </a:r>
          </a:p>
        </p:txBody>
      </p:sp>
      <p:sp>
        <p:nvSpPr>
          <p:cNvPr id="12" name="TextBox 11"/>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The problem   •   Page 2 of 6</a:t>
            </a:r>
          </a:p>
        </p:txBody>
      </p:sp>
      <p:cxnSp>
        <p:nvCxnSpPr>
          <p:cNvPr id="13" name="Connector 12"/>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13232"/>
            <a:ext cx="5486400" cy="32004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PROCESS FLOW</a:t>
            </a:r>
          </a:p>
        </p:txBody>
      </p:sp>
      <p:sp>
        <p:nvSpPr>
          <p:cNvPr id="4" name="TextBox 3"/>
          <p:cNvSpPr txBox="1"/>
          <p:nvPr/>
        </p:nvSpPr>
        <p:spPr>
          <a:xfrm>
            <a:off x="548640" y="1097280"/>
            <a:ext cx="11064240" cy="548640"/>
          </a:xfrm>
          <a:prstGeom prst="rect">
            <a:avLst/>
          </a:prstGeom>
          <a:noFill/>
        </p:spPr>
        <p:txBody>
          <a:bodyPr wrap="square" lIns="45720" rIns="45720" tIns="18288" bIns="18288" anchor="t">
            <a:spAutoFit/>
          </a:bodyPr>
          <a:lstStyle/>
          <a:p>
            <a:pPr algn="l">
              <a:spcAft>
                <a:spcPts val="400"/>
              </a:spcAft>
            </a:pPr>
            <a:r>
              <a:rPr sz="2600" b="1">
                <a:solidFill>
                  <a:srgbClr val="1F2937"/>
                </a:solidFill>
                <a:latin typeface="Calibri"/>
              </a:rPr>
              <a:t>How an order flows through Nex Order.</a:t>
            </a:r>
          </a:p>
        </p:txBody>
      </p:sp>
      <p:sp>
        <p:nvSpPr>
          <p:cNvPr id="5" name="TextBox 4"/>
          <p:cNvSpPr txBox="1"/>
          <p:nvPr/>
        </p:nvSpPr>
        <p:spPr>
          <a:xfrm>
            <a:off x="548640" y="1554480"/>
            <a:ext cx="3108960" cy="274320"/>
          </a:xfrm>
          <a:prstGeom prst="rect">
            <a:avLst/>
          </a:prstGeom>
          <a:noFill/>
        </p:spPr>
        <p:txBody>
          <a:bodyPr wrap="square" lIns="45720" rIns="45720" tIns="18288" bIns="18288" anchor="t">
            <a:spAutoFit/>
          </a:bodyPr>
          <a:lstStyle/>
          <a:p>
            <a:pPr algn="ctr">
              <a:spcAft>
                <a:spcPts val="400"/>
              </a:spcAft>
            </a:pPr>
            <a:r>
              <a:rPr sz="1000" b="1">
                <a:solidFill>
                  <a:srgbClr val="0EA5E9"/>
                </a:solidFill>
                <a:latin typeface="Calibri"/>
              </a:rPr>
              <a:t>INTAKE CHANNELS</a:t>
            </a:r>
          </a:p>
        </p:txBody>
      </p:sp>
      <p:sp>
        <p:nvSpPr>
          <p:cNvPr id="6" name="TextBox 5"/>
          <p:cNvSpPr txBox="1"/>
          <p:nvPr/>
        </p:nvSpPr>
        <p:spPr>
          <a:xfrm>
            <a:off x="4023360" y="1554480"/>
            <a:ext cx="3291840" cy="274320"/>
          </a:xfrm>
          <a:prstGeom prst="rect">
            <a:avLst/>
          </a:prstGeom>
          <a:noFill/>
        </p:spPr>
        <p:txBody>
          <a:bodyPr wrap="square" lIns="45720" rIns="45720" tIns="18288" bIns="18288" anchor="t">
            <a:spAutoFit/>
          </a:bodyPr>
          <a:lstStyle/>
          <a:p>
            <a:pPr algn="ctr">
              <a:spcAft>
                <a:spcPts val="400"/>
              </a:spcAft>
            </a:pPr>
            <a:r>
              <a:rPr sz="1000" b="1">
                <a:solidFill>
                  <a:srgbClr val="0EA5E9"/>
                </a:solidFill>
                <a:latin typeface="Calibri"/>
              </a:rPr>
              <a:t>UNIFIED PIPELINE</a:t>
            </a:r>
          </a:p>
        </p:txBody>
      </p:sp>
      <p:sp>
        <p:nvSpPr>
          <p:cNvPr id="7" name="TextBox 6"/>
          <p:cNvSpPr txBox="1"/>
          <p:nvPr/>
        </p:nvSpPr>
        <p:spPr>
          <a:xfrm>
            <a:off x="7680960" y="1554480"/>
            <a:ext cx="3108960" cy="274320"/>
          </a:xfrm>
          <a:prstGeom prst="rect">
            <a:avLst/>
          </a:prstGeom>
          <a:noFill/>
        </p:spPr>
        <p:txBody>
          <a:bodyPr wrap="square" lIns="45720" rIns="45720" tIns="18288" bIns="18288" anchor="t">
            <a:spAutoFit/>
          </a:bodyPr>
          <a:lstStyle/>
          <a:p>
            <a:pPr algn="ctr">
              <a:spcAft>
                <a:spcPts val="400"/>
              </a:spcAft>
            </a:pPr>
            <a:r>
              <a:rPr sz="1000" b="1">
                <a:solidFill>
                  <a:srgbClr val="0EA5E9"/>
                </a:solidFill>
                <a:latin typeface="Calibri"/>
              </a:rPr>
              <a:t>FULFILLMENT</a:t>
            </a:r>
          </a:p>
        </p:txBody>
      </p:sp>
      <p:sp>
        <p:nvSpPr>
          <p:cNvPr id="8" name="Rounded Rectangle 7"/>
          <p:cNvSpPr/>
          <p:nvPr/>
        </p:nvSpPr>
        <p:spPr>
          <a:xfrm>
            <a:off x="548640" y="192024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2996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Customer self-serve</a:t>
            </a:r>
          </a:p>
          <a:p>
            <a:pPr algn="l">
              <a:spcAft>
                <a:spcPts val="0"/>
              </a:spcAft>
            </a:pPr>
            <a:r>
              <a:rPr sz="900" b="0">
                <a:solidFill>
                  <a:srgbClr val="6B7280"/>
                </a:solidFill>
                <a:latin typeface="Calibri"/>
              </a:rPr>
              <a:t>Shop view on phone or web</a:t>
            </a:r>
          </a:p>
        </p:txBody>
      </p:sp>
      <p:sp>
        <p:nvSpPr>
          <p:cNvPr id="10" name="Rounded Rectangle 9"/>
          <p:cNvSpPr/>
          <p:nvPr/>
        </p:nvSpPr>
        <p:spPr>
          <a:xfrm>
            <a:off x="548640" y="281178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92150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Office sales rep</a:t>
            </a:r>
          </a:p>
          <a:p>
            <a:pPr algn="l">
              <a:spcAft>
                <a:spcPts val="0"/>
              </a:spcAft>
            </a:pPr>
            <a:r>
              <a:rPr sz="900" b="0">
                <a:solidFill>
                  <a:srgbClr val="6B7280"/>
                </a:solidFill>
                <a:latin typeface="Calibri"/>
              </a:rPr>
              <a:t>Telesales — call-reference verification</a:t>
            </a:r>
          </a:p>
        </p:txBody>
      </p:sp>
      <p:sp>
        <p:nvSpPr>
          <p:cNvPr id="12" name="Rounded Rectangle 11"/>
          <p:cNvSpPr/>
          <p:nvPr/>
        </p:nvSpPr>
        <p:spPr>
          <a:xfrm>
            <a:off x="548640" y="370332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1304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Field sales rep</a:t>
            </a:r>
          </a:p>
          <a:p>
            <a:pPr algn="l">
              <a:spcAft>
                <a:spcPts val="0"/>
              </a:spcAft>
            </a:pPr>
            <a:r>
              <a:rPr sz="900" b="0">
                <a:solidFill>
                  <a:srgbClr val="6B7280"/>
                </a:solidFill>
                <a:latin typeface="Calibri"/>
              </a:rPr>
              <a:t>On-site — customer signature</a:t>
            </a:r>
          </a:p>
        </p:txBody>
      </p:sp>
      <p:sp>
        <p:nvSpPr>
          <p:cNvPr id="14" name="Rounded Rectangle 13"/>
          <p:cNvSpPr/>
          <p:nvPr/>
        </p:nvSpPr>
        <p:spPr>
          <a:xfrm>
            <a:off x="548640" y="459486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70458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Email PO Inbox  ·  LIVE</a:t>
            </a:r>
          </a:p>
          <a:p>
            <a:pPr algn="l">
              <a:spcAft>
                <a:spcPts val="0"/>
              </a:spcAft>
            </a:pPr>
            <a:r>
              <a:rPr sz="900" b="0">
                <a:solidFill>
                  <a:srgbClr val="6B7280"/>
                </a:solidFill>
                <a:latin typeface="Calibri"/>
              </a:rPr>
              <a:t>AI extracts emailed POs → review → order. WhatsApp / EDI next.</a:t>
            </a:r>
          </a:p>
        </p:txBody>
      </p:sp>
      <p:sp>
        <p:nvSpPr>
          <p:cNvPr id="16" name="Rounded Rectangle 15"/>
          <p:cNvSpPr/>
          <p:nvPr/>
        </p:nvSpPr>
        <p:spPr>
          <a:xfrm>
            <a:off x="4023360" y="1920240"/>
            <a:ext cx="3291840" cy="4023360"/>
          </a:xfrm>
          <a:prstGeom prst="roundRect">
            <a:avLst>
              <a:gd name="adj" fmla="val 6000"/>
            </a:avLst>
          </a:prstGeom>
          <a:solidFill>
            <a:srgbClr val="1F293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2148840"/>
            <a:ext cx="2834640" cy="356616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place-order</a:t>
            </a:r>
          </a:p>
          <a:p>
            <a:pPr algn="l">
              <a:spcAft>
                <a:spcPts val="1400"/>
              </a:spcAft>
            </a:pPr>
            <a:r>
              <a:rPr sz="1200" b="1">
                <a:solidFill>
                  <a:srgbClr val="FFFFFF"/>
                </a:solidFill>
                <a:latin typeface="Calibri"/>
              </a:rPr>
              <a:t>Edge Function — single server-side gate</a:t>
            </a:r>
          </a:p>
          <a:p>
            <a:pPr algn="l">
              <a:spcAft>
                <a:spcPts val="400"/>
              </a:spcAft>
            </a:pPr>
            <a:r>
              <a:rPr sz="1100" b="0">
                <a:solidFill>
                  <a:srgbClr val="FFFFFF"/>
                </a:solidFill>
                <a:latin typeface="Calibri"/>
              </a:rPr>
              <a:t>•  Auth &amp; role check</a:t>
            </a:r>
          </a:p>
          <a:p>
            <a:pPr algn="l">
              <a:spcAft>
                <a:spcPts val="400"/>
              </a:spcAft>
            </a:pPr>
            <a:r>
              <a:rPr sz="1100" b="0">
                <a:solidFill>
                  <a:srgbClr val="FFFFFF"/>
                </a:solidFill>
                <a:latin typeface="Calibri"/>
              </a:rPr>
              <a:t>•  Tier pricing resolution</a:t>
            </a:r>
          </a:p>
          <a:p>
            <a:pPr algn="l">
              <a:spcAft>
                <a:spcPts val="400"/>
              </a:spcAft>
            </a:pPr>
            <a:r>
              <a:rPr sz="1100" b="0">
                <a:solidFill>
                  <a:srgbClr val="FFFFFF"/>
                </a:solidFill>
                <a:latin typeface="Calibri"/>
              </a:rPr>
              <a:t>•  Promotion engine (BOGO, bundles, storewide)</a:t>
            </a:r>
          </a:p>
          <a:p>
            <a:pPr algn="l">
              <a:spcAft>
                <a:spcPts val="400"/>
              </a:spcAft>
            </a:pPr>
            <a:r>
              <a:rPr sz="1100" b="0">
                <a:solidFill>
                  <a:srgbClr val="FFFFFF"/>
                </a:solidFill>
                <a:latin typeface="Calibri"/>
              </a:rPr>
              <a:t>•  Stock &amp; credit limit checks</a:t>
            </a:r>
          </a:p>
          <a:p>
            <a:pPr algn="l">
              <a:spcAft>
                <a:spcPts val="400"/>
              </a:spcAft>
            </a:pPr>
            <a:r>
              <a:rPr sz="1100" b="0">
                <a:solidFill>
                  <a:srgbClr val="FFFFFF"/>
                </a:solidFill>
                <a:latin typeface="Calibri"/>
              </a:rPr>
              <a:t>•  Atomic write — orders + items + invoice</a:t>
            </a:r>
          </a:p>
          <a:p>
            <a:pPr algn="l">
              <a:spcAft>
                <a:spcPts val="400"/>
              </a:spcAft>
            </a:pPr>
            <a:r>
              <a:rPr sz="1100" b="0">
                <a:solidFill>
                  <a:srgbClr val="FFFFFF"/>
                </a:solidFill>
                <a:latin typeface="Calibri"/>
              </a:rPr>
              <a:t>•  Realtime broadcast to all roles</a:t>
            </a:r>
          </a:p>
          <a:p>
            <a:pPr algn="l">
              <a:spcAft>
                <a:spcPts val="400"/>
              </a:spcAft>
            </a:pPr>
            <a:r>
              <a:rPr sz="1100" b="0">
                <a:solidFill>
                  <a:srgbClr val="FFFFFF"/>
                </a:solidFill>
                <a:latin typeface="Calibri"/>
              </a:rPr>
              <a:t>•  Email confirmation (Resend)</a:t>
            </a:r>
          </a:p>
          <a:p>
            <a:pPr algn="l">
              <a:spcAft>
                <a:spcPts val="400"/>
              </a:spcAft>
            </a:pPr>
            <a:r>
              <a:rPr sz="1100" b="0">
                <a:solidFill>
                  <a:srgbClr val="FFFFFF"/>
                </a:solidFill>
                <a:latin typeface="Calibri"/>
              </a:rPr>
              <a:t>•  Audit event written</a:t>
            </a:r>
          </a:p>
        </p:txBody>
      </p:sp>
      <p:sp>
        <p:nvSpPr>
          <p:cNvPr id="18" name="Rounded Rectangle 17"/>
          <p:cNvSpPr/>
          <p:nvPr/>
        </p:nvSpPr>
        <p:spPr>
          <a:xfrm>
            <a:off x="7680960" y="192024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202996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Order status pipeline</a:t>
            </a:r>
          </a:p>
          <a:p>
            <a:pPr algn="l">
              <a:spcAft>
                <a:spcPts val="0"/>
              </a:spcAft>
            </a:pPr>
            <a:r>
              <a:rPr sz="900" b="0">
                <a:solidFill>
                  <a:srgbClr val="6B7280"/>
                </a:solidFill>
                <a:latin typeface="Calibri"/>
              </a:rPr>
              <a:t>processing → confirmed → packed → shipped → delivered</a:t>
            </a:r>
          </a:p>
        </p:txBody>
      </p:sp>
      <p:sp>
        <p:nvSpPr>
          <p:cNvPr id="20" name="Rounded Rectangle 19"/>
          <p:cNvSpPr/>
          <p:nvPr/>
        </p:nvSpPr>
        <p:spPr>
          <a:xfrm>
            <a:off x="7680960" y="281178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0" y="292150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Invoice lifecycle</a:t>
            </a:r>
          </a:p>
          <a:p>
            <a:pPr algn="l">
              <a:spcAft>
                <a:spcPts val="0"/>
              </a:spcAft>
            </a:pPr>
            <a:r>
              <a:rPr sz="900" b="0">
                <a:solidFill>
                  <a:srgbClr val="6B7280"/>
                </a:solidFill>
                <a:latin typeface="Calibri"/>
              </a:rPr>
              <a:t>pending → issued → paid (auto-email on issue)</a:t>
            </a:r>
          </a:p>
        </p:txBody>
      </p:sp>
      <p:sp>
        <p:nvSpPr>
          <p:cNvPr id="22" name="Rounded Rectangle 21"/>
          <p:cNvSpPr/>
          <p:nvPr/>
        </p:nvSpPr>
        <p:spPr>
          <a:xfrm>
            <a:off x="7680960" y="370332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0" y="381304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Stock decrement</a:t>
            </a:r>
          </a:p>
          <a:p>
            <a:pPr algn="l">
              <a:spcAft>
                <a:spcPts val="0"/>
              </a:spcAft>
            </a:pPr>
            <a:r>
              <a:rPr sz="900" b="0">
                <a:solidFill>
                  <a:srgbClr val="6B7280"/>
                </a:solidFill>
                <a:latin typeface="Calibri"/>
              </a:rPr>
              <a:t>Inventory drops; low-stock alert if below threshold</a:t>
            </a:r>
          </a:p>
        </p:txBody>
      </p:sp>
      <p:sp>
        <p:nvSpPr>
          <p:cNvPr id="24" name="Rounded Rectangle 23"/>
          <p:cNvSpPr/>
          <p:nvPr/>
        </p:nvSpPr>
        <p:spPr>
          <a:xfrm>
            <a:off x="7680960" y="4594860"/>
            <a:ext cx="3108960" cy="800100"/>
          </a:xfrm>
          <a:prstGeom prst="roundRect">
            <a:avLst>
              <a:gd name="adj" fmla="val 10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4704588"/>
            <a:ext cx="2743200" cy="580644"/>
          </a:xfrm>
          <a:prstGeom prst="rect">
            <a:avLst/>
          </a:prstGeom>
          <a:noFill/>
        </p:spPr>
        <p:txBody>
          <a:bodyPr wrap="square" lIns="45720" rIns="45720" tIns="18288" bIns="18288" anchor="t">
            <a:spAutoFit/>
          </a:bodyPr>
          <a:lstStyle/>
          <a:p>
            <a:pPr algn="l">
              <a:spcAft>
                <a:spcPts val="200"/>
              </a:spcAft>
            </a:pPr>
            <a:r>
              <a:rPr sz="1200" b="1">
                <a:solidFill>
                  <a:srgbClr val="1F2937"/>
                </a:solidFill>
                <a:latin typeface="Calibri"/>
              </a:rPr>
              <a:t>Audit log entry</a:t>
            </a:r>
          </a:p>
          <a:p>
            <a:pPr algn="l">
              <a:spcAft>
                <a:spcPts val="0"/>
              </a:spcAft>
            </a:pPr>
            <a:r>
              <a:rPr sz="900" b="0">
                <a:solidFill>
                  <a:srgbClr val="6B7280"/>
                </a:solidFill>
                <a:latin typeface="Calibri"/>
              </a:rPr>
              <a:t>Actor, before/after, optional reason</a:t>
            </a:r>
          </a:p>
        </p:txBody>
      </p:sp>
      <p:cxnSp>
        <p:nvCxnSpPr>
          <p:cNvPr id="26" name="Connector 25"/>
          <p:cNvCxnSpPr/>
          <p:nvPr/>
        </p:nvCxnSpPr>
        <p:spPr>
          <a:xfrm>
            <a:off x="3657600" y="3931920"/>
            <a:ext cx="365760" cy="0"/>
          </a:xfrm>
          <a:prstGeom prst="line">
            <a:avLst/>
          </a:prstGeom>
          <a:ln w="19050">
            <a:solidFill>
              <a:srgbClr val="0EA5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315200" y="3931920"/>
            <a:ext cx="365760" cy="0"/>
          </a:xfrm>
          <a:prstGeom prst="line">
            <a:avLst/>
          </a:prstGeom>
          <a:ln w="19050">
            <a:solidFill>
              <a:srgbClr val="0EA5E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80760"/>
            <a:ext cx="10972800" cy="365760"/>
          </a:xfrm>
          <a:prstGeom prst="rect">
            <a:avLst/>
          </a:prstGeom>
          <a:noFill/>
        </p:spPr>
        <p:txBody>
          <a:bodyPr wrap="square" lIns="45720" rIns="45720" tIns="18288" bIns="18288" anchor="t">
            <a:spAutoFit/>
          </a:bodyPr>
          <a:lstStyle/>
          <a:p>
            <a:pPr algn="ctr">
              <a:spcAft>
                <a:spcPts val="400"/>
              </a:spcAft>
            </a:pPr>
            <a:r>
              <a:rPr sz="1200" b="1">
                <a:solidFill>
                  <a:srgbClr val="1F2937"/>
                </a:solidFill>
                <a:latin typeface="Calibri"/>
              </a:rPr>
              <a:t>One server-side gate. Same rules for every channel. Every action logged.</a:t>
            </a:r>
          </a:p>
        </p:txBody>
      </p:sp>
      <p:sp>
        <p:nvSpPr>
          <p:cNvPr id="29" name="TextBox 28"/>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Process flow   •   Page 3 of 6</a:t>
            </a:r>
          </a:p>
        </p:txBody>
      </p:sp>
      <p:cxnSp>
        <p:nvCxnSpPr>
          <p:cNvPr id="30" name="Connector 29"/>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13232"/>
            <a:ext cx="5486400" cy="32004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WHAT'S IN THE PLATFORM</a:t>
            </a:r>
          </a:p>
        </p:txBody>
      </p:sp>
      <p:sp>
        <p:nvSpPr>
          <p:cNvPr id="4" name="TextBox 3"/>
          <p:cNvSpPr txBox="1"/>
          <p:nvPr/>
        </p:nvSpPr>
        <p:spPr>
          <a:xfrm>
            <a:off x="548640" y="1097280"/>
            <a:ext cx="11064240" cy="548640"/>
          </a:xfrm>
          <a:prstGeom prst="rect">
            <a:avLst/>
          </a:prstGeom>
          <a:noFill/>
        </p:spPr>
        <p:txBody>
          <a:bodyPr wrap="square" lIns="45720" rIns="45720" tIns="18288" bIns="18288" anchor="t">
            <a:spAutoFit/>
          </a:bodyPr>
          <a:lstStyle/>
          <a:p>
            <a:pPr algn="l">
              <a:spcAft>
                <a:spcPts val="400"/>
              </a:spcAft>
            </a:pPr>
            <a:r>
              <a:rPr sz="2600" b="1">
                <a:solidFill>
                  <a:srgbClr val="1F2937"/>
                </a:solidFill>
                <a:latin typeface="Calibri"/>
              </a:rPr>
              <a:t>Built for the realities of B2B selling.</a:t>
            </a:r>
          </a:p>
        </p:txBody>
      </p:sp>
      <p:sp>
        <p:nvSpPr>
          <p:cNvPr id="5" name="Rounded Rectangle 4"/>
          <p:cNvSpPr/>
          <p:nvPr/>
        </p:nvSpPr>
        <p:spPr>
          <a:xfrm>
            <a:off x="548640" y="201168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24028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AI PO Inbox</a:t>
            </a:r>
          </a:p>
          <a:p>
            <a:pPr algn="l">
              <a:spcAft>
                <a:spcPts val="0"/>
              </a:spcAft>
            </a:pPr>
            <a:r>
              <a:rPr sz="1100" b="0">
                <a:solidFill>
                  <a:srgbClr val="6B7280"/>
                </a:solidFill>
                <a:latin typeface="Calibri"/>
              </a:rPr>
              <a:t>Emailed &amp; PDF purchase orders read by AI, matched to customer and products, and turned into real orders — clean ones auto-approve, the rest get a quick human check.</a:t>
            </a:r>
          </a:p>
        </p:txBody>
      </p:sp>
      <p:sp>
        <p:nvSpPr>
          <p:cNvPr id="8" name="Rounded Rectangle 7"/>
          <p:cNvSpPr/>
          <p:nvPr/>
        </p:nvSpPr>
        <p:spPr>
          <a:xfrm>
            <a:off x="4322978" y="201168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1578" y="224028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1578" y="242316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Pantry intelligence</a:t>
            </a:r>
          </a:p>
          <a:p>
            <a:pPr algn="l">
              <a:spcAft>
                <a:spcPts val="0"/>
              </a:spcAft>
            </a:pPr>
            <a:r>
              <a:rPr sz="1100" b="0">
                <a:solidFill>
                  <a:srgbClr val="6B7280"/>
                </a:solidFill>
                <a:latin typeface="Calibri"/>
              </a:rPr>
              <a:t>Per-customer reorder list, frequency-weighted suggestions, automatic out-of-stock substitutes.</a:t>
            </a:r>
          </a:p>
        </p:txBody>
      </p:sp>
      <p:sp>
        <p:nvSpPr>
          <p:cNvPr id="11" name="Rounded Rectangle 10"/>
          <p:cNvSpPr/>
          <p:nvPr/>
        </p:nvSpPr>
        <p:spPr>
          <a:xfrm>
            <a:off x="8097316" y="201168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5916" y="224028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5916" y="242316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Tier pricing &amp; promotions</a:t>
            </a:r>
          </a:p>
          <a:p>
            <a:pPr algn="l">
              <a:spcAft>
                <a:spcPts val="0"/>
              </a:spcAft>
            </a:pPr>
            <a:r>
              <a:rPr sz="1100" b="0">
                <a:solidFill>
                  <a:srgbClr val="6B7280"/>
                </a:solidFill>
                <a:latin typeface="Calibri"/>
              </a:rPr>
              <a:t>Gold/Silver/Bronze tiers. BOGO, bundle, and storewide promos resolved server-side at checkout.</a:t>
            </a:r>
          </a:p>
        </p:txBody>
      </p:sp>
      <p:sp>
        <p:nvSpPr>
          <p:cNvPr id="14" name="Rounded Rectangle 13"/>
          <p:cNvSpPr/>
          <p:nvPr/>
        </p:nvSpPr>
        <p:spPr>
          <a:xfrm>
            <a:off x="548640" y="409194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32054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50342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Routes &amp; scheduled visits</a:t>
            </a:r>
          </a:p>
          <a:p>
            <a:pPr algn="l">
              <a:spcAft>
                <a:spcPts val="0"/>
              </a:spcAft>
            </a:pPr>
            <a:r>
              <a:rPr sz="1100" b="0">
                <a:solidFill>
                  <a:srgbClr val="6B7280"/>
                </a:solidFill>
                <a:latin typeface="Calibri"/>
              </a:rPr>
              <a:t>Field reps follow a planned route with stops, change requests, and on-site signature capture.</a:t>
            </a:r>
          </a:p>
        </p:txBody>
      </p:sp>
      <p:sp>
        <p:nvSpPr>
          <p:cNvPr id="17" name="Rounded Rectangle 16"/>
          <p:cNvSpPr/>
          <p:nvPr/>
        </p:nvSpPr>
        <p:spPr>
          <a:xfrm>
            <a:off x="4322978" y="409194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51578" y="432054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51578" y="450342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Realtime, role-gated &amp; audited</a:t>
            </a:r>
          </a:p>
          <a:p>
            <a:pPr algn="l">
              <a:spcAft>
                <a:spcPts val="0"/>
              </a:spcAft>
            </a:pPr>
            <a:r>
              <a:rPr sz="1100" b="0">
                <a:solidFill>
                  <a:srgbClr val="6B7280"/>
                </a:solidFill>
                <a:latin typeface="Calibri"/>
              </a:rPr>
              <a:t>Five RLS-locked roles. Postgres realtime pushes new orders to every screen without refresh; every privileged write logged with before/after diff.</a:t>
            </a:r>
          </a:p>
        </p:txBody>
      </p:sp>
      <p:sp>
        <p:nvSpPr>
          <p:cNvPr id="20" name="Rounded Rectangle 19"/>
          <p:cNvSpPr/>
          <p:nvPr/>
        </p:nvSpPr>
        <p:spPr>
          <a:xfrm>
            <a:off x="8097316" y="4091940"/>
            <a:ext cx="3545738" cy="1851660"/>
          </a:xfrm>
          <a:prstGeom prst="roundRect">
            <a:avLst>
              <a:gd name="adj" fmla="val 6000"/>
            </a:avLst>
          </a:prstGeom>
          <a:solidFill>
            <a:srgbClr val="FFFFFF"/>
          </a:solidFill>
          <a:ln w="9525">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25916" y="432054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5916" y="4503420"/>
            <a:ext cx="3088538" cy="1303020"/>
          </a:xfrm>
          <a:prstGeom prst="rect">
            <a:avLst/>
          </a:prstGeom>
          <a:noFill/>
        </p:spPr>
        <p:txBody>
          <a:bodyPr wrap="square" lIns="45720" rIns="45720" tIns="18288" bIns="18288" anchor="t">
            <a:spAutoFit/>
          </a:bodyPr>
          <a:lstStyle/>
          <a:p>
            <a:pPr algn="l">
              <a:spcAft>
                <a:spcPts val="600"/>
              </a:spcAft>
            </a:pPr>
            <a:r>
              <a:rPr sz="1500" b="1">
                <a:solidFill>
                  <a:srgbClr val="1F2937"/>
                </a:solidFill>
                <a:latin typeface="Calibri"/>
              </a:rPr>
              <a:t>Stock, invoicing &amp; accounting</a:t>
            </a:r>
          </a:p>
          <a:p>
            <a:pPr algn="l">
              <a:spcAft>
                <a:spcPts val="0"/>
              </a:spcAft>
            </a:pPr>
            <a:r>
              <a:rPr sz="1100" b="0">
                <a:solidFill>
                  <a:srgbClr val="6B7280"/>
                </a:solidFill>
                <a:latin typeface="Calibri"/>
              </a:rPr>
              <a:t>Live inventory, aging report, credit-limit checks, low-stock alerts.</a:t>
            </a:r>
          </a:p>
        </p:txBody>
      </p:sp>
      <p:sp>
        <p:nvSpPr>
          <p:cNvPr id="23" name="TextBox 22"/>
          <p:cNvSpPr txBox="1"/>
          <p:nvPr/>
        </p:nvSpPr>
        <p:spPr>
          <a:xfrm>
            <a:off x="548640" y="6126480"/>
            <a:ext cx="11064240" cy="365760"/>
          </a:xfrm>
          <a:prstGeom prst="rect">
            <a:avLst/>
          </a:prstGeom>
          <a:noFill/>
        </p:spPr>
        <p:txBody>
          <a:bodyPr wrap="square" lIns="45720" rIns="45720" tIns="18288" bIns="18288" anchor="t">
            <a:spAutoFit/>
          </a:bodyPr>
          <a:lstStyle/>
          <a:p>
            <a:pPr algn="ctr">
              <a:spcAft>
                <a:spcPts val="400"/>
              </a:spcAft>
            </a:pPr>
            <a:r>
              <a:rPr sz="1000" b="0">
                <a:solidFill>
                  <a:srgbClr val="6B7280"/>
                </a:solidFill>
                <a:latin typeface="Calibri"/>
              </a:rPr>
              <a:t>26 Edge Functions   •   5 roles   •   Postgres + RLS   •   React 19 / TypeScript / Tailwind   •   Vercel + Supabase</a:t>
            </a:r>
          </a:p>
        </p:txBody>
      </p:sp>
      <p:sp>
        <p:nvSpPr>
          <p:cNvPr id="24" name="TextBox 23"/>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Capabilities   •   Page 4 of 6</a:t>
            </a:r>
          </a:p>
        </p:txBody>
      </p:sp>
      <p:cxnSp>
        <p:nvCxnSpPr>
          <p:cNvPr id="25" name="Connector 24"/>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13232"/>
            <a:ext cx="5486400" cy="32004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AI PO INBOX</a:t>
            </a:r>
          </a:p>
        </p:txBody>
      </p:sp>
      <p:sp>
        <p:nvSpPr>
          <p:cNvPr id="4" name="TextBox 3"/>
          <p:cNvSpPr txBox="1"/>
          <p:nvPr/>
        </p:nvSpPr>
        <p:spPr>
          <a:xfrm>
            <a:off x="548640" y="1097280"/>
            <a:ext cx="11064240" cy="640080"/>
          </a:xfrm>
          <a:prstGeom prst="rect">
            <a:avLst/>
          </a:prstGeom>
          <a:noFill/>
        </p:spPr>
        <p:txBody>
          <a:bodyPr wrap="square" lIns="45720" rIns="45720" tIns="18288" bIns="18288" anchor="t">
            <a:spAutoFit/>
          </a:bodyPr>
          <a:lstStyle/>
          <a:p>
            <a:pPr algn="l">
              <a:spcAft>
                <a:spcPts val="400"/>
              </a:spcAft>
            </a:pPr>
            <a:r>
              <a:rPr sz="3000" b="1">
                <a:solidFill>
                  <a:srgbClr val="1F2937"/>
                </a:solidFill>
                <a:latin typeface="Calibri"/>
              </a:rPr>
              <a:t>Your buyers already email their orders.</a:t>
            </a:r>
          </a:p>
        </p:txBody>
      </p:sp>
      <p:sp>
        <p:nvSpPr>
          <p:cNvPr id="5" name="TextBox 4"/>
          <p:cNvSpPr txBox="1"/>
          <p:nvPr/>
        </p:nvSpPr>
        <p:spPr>
          <a:xfrm>
            <a:off x="548640" y="1783080"/>
            <a:ext cx="11064240" cy="868680"/>
          </a:xfrm>
          <a:prstGeom prst="rect">
            <a:avLst/>
          </a:prstGeom>
          <a:noFill/>
        </p:spPr>
        <p:txBody>
          <a:bodyPr wrap="square" lIns="45720" rIns="45720" tIns="18288" bIns="18288" anchor="t">
            <a:spAutoFit/>
          </a:bodyPr>
          <a:lstStyle/>
          <a:p>
            <a:pPr algn="l">
              <a:spcAft>
                <a:spcPts val="0"/>
              </a:spcAft>
            </a:pPr>
            <a:r>
              <a:rPr sz="1500" b="0">
                <a:solidFill>
                  <a:srgbClr val="6B7280"/>
                </a:solidFill>
                <a:latin typeface="Calibri"/>
              </a:rPr>
              <a:t>Most B2B buyers will never learn an app — they send a PO by email or PDF. PO Inbox reads it, matches it to the right customer and products, and drops a clean order into your back office. No behaviour change asked of the customer.</a:t>
            </a:r>
          </a:p>
        </p:txBody>
      </p:sp>
      <p:sp>
        <p:nvSpPr>
          <p:cNvPr id="6" name="Rounded Rectangle 5"/>
          <p:cNvSpPr/>
          <p:nvPr/>
        </p:nvSpPr>
        <p:spPr>
          <a:xfrm>
            <a:off x="548640" y="2788920"/>
            <a:ext cx="2567863" cy="2788920"/>
          </a:xfrm>
          <a:prstGeom prst="roundRect">
            <a:avLst>
              <a:gd name="adj" fmla="val 6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01752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200400"/>
            <a:ext cx="2110663" cy="2194560"/>
          </a:xfrm>
          <a:prstGeom prst="rect">
            <a:avLst/>
          </a:prstGeom>
          <a:noFill/>
        </p:spPr>
        <p:txBody>
          <a:bodyPr wrap="square" lIns="45720" rIns="45720" tIns="18288" bIns="18288" anchor="t">
            <a:spAutoFit/>
          </a:bodyPr>
          <a:lstStyle/>
          <a:p>
            <a:pPr algn="l">
              <a:spcAft>
                <a:spcPts val="600"/>
              </a:spcAft>
            </a:pPr>
            <a:r>
              <a:rPr sz="1000" b="1">
                <a:solidFill>
                  <a:srgbClr val="0EA5E9"/>
                </a:solidFill>
                <a:latin typeface="Calibri"/>
              </a:rPr>
              <a:t>STEP 1</a:t>
            </a:r>
          </a:p>
          <a:p>
            <a:pPr algn="l">
              <a:spcAft>
                <a:spcPts val="800"/>
              </a:spcAft>
            </a:pPr>
            <a:r>
              <a:rPr sz="1400" b="1">
                <a:solidFill>
                  <a:srgbClr val="1F2937"/>
                </a:solidFill>
                <a:latin typeface="Calibri"/>
              </a:rPr>
              <a:t>Email or PDF lands</a:t>
            </a:r>
          </a:p>
          <a:p>
            <a:pPr algn="l">
              <a:spcAft>
                <a:spcPts val="0"/>
              </a:spcAft>
            </a:pPr>
            <a:r>
              <a:rPr sz="1000" b="0">
                <a:solidFill>
                  <a:srgbClr val="6B7280"/>
                </a:solidFill>
                <a:latin typeface="Calibri"/>
              </a:rPr>
              <a:t>A connected Gmail or Outlook mailbox is polled automatically. The buyer emails the way they always have — no portal, no login.</a:t>
            </a:r>
          </a:p>
        </p:txBody>
      </p:sp>
      <p:sp>
        <p:nvSpPr>
          <p:cNvPr id="9" name="Rounded Rectangle 8"/>
          <p:cNvSpPr/>
          <p:nvPr/>
        </p:nvSpPr>
        <p:spPr>
          <a:xfrm>
            <a:off x="3390823" y="2788920"/>
            <a:ext cx="2567863" cy="2788920"/>
          </a:xfrm>
          <a:prstGeom prst="roundRect">
            <a:avLst>
              <a:gd name="adj" fmla="val 6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19423" y="301752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9423" y="3200400"/>
            <a:ext cx="2110663" cy="2194560"/>
          </a:xfrm>
          <a:prstGeom prst="rect">
            <a:avLst/>
          </a:prstGeom>
          <a:noFill/>
        </p:spPr>
        <p:txBody>
          <a:bodyPr wrap="square" lIns="45720" rIns="45720" tIns="18288" bIns="18288" anchor="t">
            <a:spAutoFit/>
          </a:bodyPr>
          <a:lstStyle/>
          <a:p>
            <a:pPr algn="l">
              <a:spcAft>
                <a:spcPts val="600"/>
              </a:spcAft>
            </a:pPr>
            <a:r>
              <a:rPr sz="1000" b="1">
                <a:solidFill>
                  <a:srgbClr val="0EA5E9"/>
                </a:solidFill>
                <a:latin typeface="Calibri"/>
              </a:rPr>
              <a:t>STEP 2</a:t>
            </a:r>
          </a:p>
          <a:p>
            <a:pPr algn="l">
              <a:spcAft>
                <a:spcPts val="800"/>
              </a:spcAft>
            </a:pPr>
            <a:r>
              <a:rPr sz="1400" b="1">
                <a:solidFill>
                  <a:srgbClr val="1F2937"/>
                </a:solidFill>
                <a:latin typeface="Calibri"/>
              </a:rPr>
              <a:t>AI reads &amp; matches</a:t>
            </a:r>
          </a:p>
          <a:p>
            <a:pPr algn="l">
              <a:spcAft>
                <a:spcPts val="0"/>
              </a:spcAft>
            </a:pPr>
            <a:r>
              <a:rPr sz="1000" b="0">
                <a:solidFill>
                  <a:srgbClr val="6B7280"/>
                </a:solidFill>
                <a:latin typeface="Calibri"/>
              </a:rPr>
              <a:t>Parses the PDF and body, ignores signatures and clutter. Matches sender → customer and free-text items → your catalog — learning aliases on every approval.</a:t>
            </a:r>
          </a:p>
        </p:txBody>
      </p:sp>
      <p:sp>
        <p:nvSpPr>
          <p:cNvPr id="12" name="Rounded Rectangle 11"/>
          <p:cNvSpPr/>
          <p:nvPr/>
        </p:nvSpPr>
        <p:spPr>
          <a:xfrm>
            <a:off x="6233006" y="2788920"/>
            <a:ext cx="2567863" cy="2788920"/>
          </a:xfrm>
          <a:prstGeom prst="roundRect">
            <a:avLst>
              <a:gd name="adj" fmla="val 6000"/>
            </a:avLst>
          </a:prstGeom>
          <a:solidFill>
            <a:srgbClr val="FFFFFF"/>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61606" y="301752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6" y="3200400"/>
            <a:ext cx="2110663" cy="2194560"/>
          </a:xfrm>
          <a:prstGeom prst="rect">
            <a:avLst/>
          </a:prstGeom>
          <a:noFill/>
        </p:spPr>
        <p:txBody>
          <a:bodyPr wrap="square" lIns="45720" rIns="45720" tIns="18288" bIns="18288" anchor="t">
            <a:spAutoFit/>
          </a:bodyPr>
          <a:lstStyle/>
          <a:p>
            <a:pPr algn="l">
              <a:spcAft>
                <a:spcPts val="600"/>
              </a:spcAft>
            </a:pPr>
            <a:r>
              <a:rPr sz="1000" b="1">
                <a:solidFill>
                  <a:srgbClr val="0EA5E9"/>
                </a:solidFill>
                <a:latin typeface="Calibri"/>
              </a:rPr>
              <a:t>STEP 3</a:t>
            </a:r>
          </a:p>
          <a:p>
            <a:pPr algn="l">
              <a:spcAft>
                <a:spcPts val="800"/>
              </a:spcAft>
            </a:pPr>
            <a:r>
              <a:rPr sz="1400" b="1">
                <a:solidFill>
                  <a:srgbClr val="1F2937"/>
                </a:solidFill>
                <a:latin typeface="Calibri"/>
              </a:rPr>
              <a:t>Auto-approve or review</a:t>
            </a:r>
          </a:p>
          <a:p>
            <a:pPr algn="l">
              <a:spcAft>
                <a:spcPts val="0"/>
              </a:spcAft>
            </a:pPr>
            <a:r>
              <a:rPr sz="1000" b="0">
                <a:solidFill>
                  <a:srgbClr val="6B7280"/>
                </a:solidFill>
                <a:latin typeface="Calibri"/>
              </a:rPr>
              <a:t>Clean, high-confidence, in-stock POs auto-approve. The rest surface with a confidence score and clear flags — sender mismatch, short stock, unresolved line — for a quick human check.</a:t>
            </a:r>
          </a:p>
        </p:txBody>
      </p:sp>
      <p:sp>
        <p:nvSpPr>
          <p:cNvPr id="15" name="Rounded Rectangle 14"/>
          <p:cNvSpPr/>
          <p:nvPr/>
        </p:nvSpPr>
        <p:spPr>
          <a:xfrm>
            <a:off x="9075189" y="2788920"/>
            <a:ext cx="2567863" cy="2788920"/>
          </a:xfrm>
          <a:prstGeom prst="roundRect">
            <a:avLst>
              <a:gd name="adj" fmla="val 6000"/>
            </a:avLst>
          </a:prstGeom>
          <a:solidFill>
            <a:srgbClr val="1F2937"/>
          </a:solidFill>
          <a:ln w="15875">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03789" y="3017520"/>
            <a:ext cx="365760"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03789" y="3200400"/>
            <a:ext cx="2110663" cy="2194560"/>
          </a:xfrm>
          <a:prstGeom prst="rect">
            <a:avLst/>
          </a:prstGeom>
          <a:noFill/>
        </p:spPr>
        <p:txBody>
          <a:bodyPr wrap="square" lIns="45720" rIns="45720" tIns="18288" bIns="18288" anchor="t">
            <a:spAutoFit/>
          </a:bodyPr>
          <a:lstStyle/>
          <a:p>
            <a:pPr algn="l">
              <a:spcAft>
                <a:spcPts val="600"/>
              </a:spcAft>
            </a:pPr>
            <a:r>
              <a:rPr sz="1000" b="1">
                <a:solidFill>
                  <a:srgbClr val="0EA5E9"/>
                </a:solidFill>
                <a:latin typeface="Calibri"/>
              </a:rPr>
              <a:t>STEP 4</a:t>
            </a:r>
          </a:p>
          <a:p>
            <a:pPr algn="l">
              <a:spcAft>
                <a:spcPts val="800"/>
              </a:spcAft>
            </a:pPr>
            <a:r>
              <a:rPr sz="1400" b="1">
                <a:solidFill>
                  <a:srgbClr val="FFFFFF"/>
                </a:solidFill>
                <a:latin typeface="Calibri"/>
              </a:rPr>
              <a:t>A real order, in your books</a:t>
            </a:r>
          </a:p>
          <a:p>
            <a:pPr algn="l">
              <a:spcAft>
                <a:spcPts val="0"/>
              </a:spcAft>
            </a:pPr>
            <a:r>
              <a:rPr sz="1000" b="0">
                <a:solidFill>
                  <a:srgbClr val="E5E7EB"/>
                </a:solidFill>
                <a:latin typeface="Calibri"/>
              </a:rPr>
              <a:t>Approve and it becomes an ORD-IN order in the same orders list — same status pipeline, realtime feed, and audit log as every other channel.</a:t>
            </a:r>
          </a:p>
        </p:txBody>
      </p:sp>
      <p:cxnSp>
        <p:nvCxnSpPr>
          <p:cNvPr id="18" name="Connector 17"/>
          <p:cNvCxnSpPr/>
          <p:nvPr/>
        </p:nvCxnSpPr>
        <p:spPr>
          <a:xfrm>
            <a:off x="3116503" y="4183380"/>
            <a:ext cx="274320" cy="0"/>
          </a:xfrm>
          <a:prstGeom prst="line">
            <a:avLst/>
          </a:prstGeom>
          <a:ln w="19050">
            <a:solidFill>
              <a:srgbClr val="0EA5E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58686" y="4183380"/>
            <a:ext cx="274320" cy="0"/>
          </a:xfrm>
          <a:prstGeom prst="line">
            <a:avLst/>
          </a:prstGeom>
          <a:ln w="19050">
            <a:solidFill>
              <a:srgbClr val="0EA5E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00869" y="4183380"/>
            <a:ext cx="274320" cy="0"/>
          </a:xfrm>
          <a:prstGeom prst="line">
            <a:avLst/>
          </a:prstGeom>
          <a:ln w="19050">
            <a:solidFill>
              <a:srgbClr val="0EA5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5897880"/>
            <a:ext cx="11064240" cy="365760"/>
          </a:xfrm>
          <a:prstGeom prst="rect">
            <a:avLst/>
          </a:prstGeom>
          <a:noFill/>
        </p:spPr>
        <p:txBody>
          <a:bodyPr wrap="square" lIns="45720" rIns="45720" tIns="18288" bIns="18288" anchor="t">
            <a:spAutoFit/>
          </a:bodyPr>
          <a:lstStyle/>
          <a:p>
            <a:pPr algn="ctr">
              <a:spcAft>
                <a:spcPts val="400"/>
              </a:spcAft>
            </a:pPr>
            <a:r>
              <a:rPr sz="1000" b="0">
                <a:solidFill>
                  <a:srgbClr val="6B7280"/>
                </a:solidFill>
                <a:latin typeface="Calibri"/>
              </a:rPr>
              <a:t>OAuth mailboxes (Gmail / Outlook)   •   Confidence-scored AI extraction   •   Admin / Manager-gated   •   Every approval audited</a:t>
            </a:r>
          </a:p>
        </p:txBody>
      </p:sp>
      <p:sp>
        <p:nvSpPr>
          <p:cNvPr id="22" name="TextBox 21"/>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PO Inbox   •   Page 5 of 6</a:t>
            </a:r>
          </a:p>
        </p:txBody>
      </p:sp>
      <p:cxnSp>
        <p:nvCxnSpPr>
          <p:cNvPr id="23" name="Connector 22"/>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5486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13232"/>
            <a:ext cx="5486400" cy="320040"/>
          </a:xfrm>
          <a:prstGeom prst="rect">
            <a:avLst/>
          </a:prstGeom>
          <a:noFill/>
        </p:spPr>
        <p:txBody>
          <a:bodyPr wrap="square" lIns="45720" rIns="45720" tIns="18288" bIns="18288" anchor="t">
            <a:spAutoFit/>
          </a:bodyPr>
          <a:lstStyle/>
          <a:p>
            <a:pPr algn="l">
              <a:spcAft>
                <a:spcPts val="400"/>
              </a:spcAft>
            </a:pPr>
            <a:r>
              <a:rPr sz="1100" b="1">
                <a:solidFill>
                  <a:srgbClr val="0EA5E9"/>
                </a:solidFill>
                <a:latin typeface="Calibri"/>
              </a:rPr>
              <a:t>LIVE DEMO</a:t>
            </a:r>
          </a:p>
        </p:txBody>
      </p:sp>
      <p:sp>
        <p:nvSpPr>
          <p:cNvPr id="4" name="TextBox 3"/>
          <p:cNvSpPr txBox="1"/>
          <p:nvPr/>
        </p:nvSpPr>
        <p:spPr>
          <a:xfrm>
            <a:off x="548640" y="1097280"/>
            <a:ext cx="11064240" cy="914400"/>
          </a:xfrm>
          <a:prstGeom prst="rect">
            <a:avLst/>
          </a:prstGeom>
          <a:noFill/>
        </p:spPr>
        <p:txBody>
          <a:bodyPr wrap="square" lIns="45720" rIns="45720" tIns="18288" bIns="18288" anchor="t">
            <a:spAutoFit/>
          </a:bodyPr>
          <a:lstStyle/>
          <a:p>
            <a:pPr algn="l">
              <a:spcAft>
                <a:spcPts val="400"/>
              </a:spcAft>
            </a:pPr>
            <a:r>
              <a:rPr sz="4000" b="1">
                <a:solidFill>
                  <a:srgbClr val="1F2937"/>
                </a:solidFill>
                <a:latin typeface="Calibri"/>
              </a:rPr>
              <a:t>Let's see it work.</a:t>
            </a:r>
          </a:p>
        </p:txBody>
      </p:sp>
      <p:sp>
        <p:nvSpPr>
          <p:cNvPr id="5" name="Oval 4"/>
          <p:cNvSpPr/>
          <p:nvPr/>
        </p:nvSpPr>
        <p:spPr>
          <a:xfrm>
            <a:off x="548640" y="2468880"/>
            <a:ext cx="640080" cy="640080"/>
          </a:xfrm>
          <a:prstGeom prst="ellipse">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42032"/>
            <a:ext cx="640080" cy="502920"/>
          </a:xfrm>
          <a:prstGeom prst="rect">
            <a:avLst/>
          </a:prstGeom>
          <a:noFill/>
        </p:spPr>
        <p:txBody>
          <a:bodyPr wrap="square" lIns="45720" rIns="45720" tIns="18288" bIns="18288" anchor="t">
            <a:spAutoFit/>
          </a:bodyPr>
          <a:lstStyle/>
          <a:p>
            <a:pPr algn="ctr">
              <a:spcAft>
                <a:spcPts val="400"/>
              </a:spcAft>
            </a:pPr>
            <a:r>
              <a:rPr sz="1600" b="1">
                <a:solidFill>
                  <a:srgbClr val="FFFFFF"/>
                </a:solidFill>
                <a:latin typeface="Calibri"/>
              </a:rPr>
              <a:t>01</a:t>
            </a:r>
          </a:p>
        </p:txBody>
      </p:sp>
      <p:sp>
        <p:nvSpPr>
          <p:cNvPr id="7" name="TextBox 6"/>
          <p:cNvSpPr txBox="1"/>
          <p:nvPr/>
        </p:nvSpPr>
        <p:spPr>
          <a:xfrm>
            <a:off x="1463040" y="2423160"/>
            <a:ext cx="5943600" cy="1051560"/>
          </a:xfrm>
          <a:prstGeom prst="rect">
            <a:avLst/>
          </a:prstGeom>
          <a:noFill/>
        </p:spPr>
        <p:txBody>
          <a:bodyPr wrap="square" lIns="45720" rIns="45720" tIns="18288" bIns="18288" anchor="t">
            <a:spAutoFit/>
          </a:bodyPr>
          <a:lstStyle/>
          <a:p>
            <a:pPr algn="l">
              <a:spcAft>
                <a:spcPts val="200"/>
              </a:spcAft>
            </a:pPr>
            <a:r>
              <a:rPr sz="1500" b="1">
                <a:solidFill>
                  <a:srgbClr val="1F2937"/>
                </a:solidFill>
                <a:latin typeface="Calibri"/>
              </a:rPr>
              <a:t>A restaurant places an order from their phone</a:t>
            </a:r>
          </a:p>
          <a:p>
            <a:pPr algn="l">
              <a:spcAft>
                <a:spcPts val="0"/>
              </a:spcAft>
            </a:pPr>
            <a:r>
              <a:rPr sz="1100" b="0">
                <a:solidFill>
                  <a:srgbClr val="6B7280"/>
                </a:solidFill>
                <a:latin typeface="Calibri"/>
              </a:rPr>
              <a:t>Pantry, promos, tier pricing — no phone call.</a:t>
            </a:r>
          </a:p>
        </p:txBody>
      </p:sp>
      <p:sp>
        <p:nvSpPr>
          <p:cNvPr id="8" name="Oval 7"/>
          <p:cNvSpPr/>
          <p:nvPr/>
        </p:nvSpPr>
        <p:spPr>
          <a:xfrm>
            <a:off x="548640" y="3611880"/>
            <a:ext cx="640080" cy="640080"/>
          </a:xfrm>
          <a:prstGeom prst="ellipse">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685032"/>
            <a:ext cx="640080" cy="502920"/>
          </a:xfrm>
          <a:prstGeom prst="rect">
            <a:avLst/>
          </a:prstGeom>
          <a:noFill/>
        </p:spPr>
        <p:txBody>
          <a:bodyPr wrap="square" lIns="45720" rIns="45720" tIns="18288" bIns="18288" anchor="t">
            <a:spAutoFit/>
          </a:bodyPr>
          <a:lstStyle/>
          <a:p>
            <a:pPr algn="ctr">
              <a:spcAft>
                <a:spcPts val="400"/>
              </a:spcAft>
            </a:pPr>
            <a:r>
              <a:rPr sz="1600" b="1">
                <a:solidFill>
                  <a:srgbClr val="FFFFFF"/>
                </a:solidFill>
                <a:latin typeface="Calibri"/>
              </a:rPr>
              <a:t>02</a:t>
            </a:r>
          </a:p>
        </p:txBody>
      </p:sp>
      <p:sp>
        <p:nvSpPr>
          <p:cNvPr id="10" name="TextBox 9"/>
          <p:cNvSpPr txBox="1"/>
          <p:nvPr/>
        </p:nvSpPr>
        <p:spPr>
          <a:xfrm>
            <a:off x="1463040" y="3566160"/>
            <a:ext cx="5943600" cy="1051560"/>
          </a:xfrm>
          <a:prstGeom prst="rect">
            <a:avLst/>
          </a:prstGeom>
          <a:noFill/>
        </p:spPr>
        <p:txBody>
          <a:bodyPr wrap="square" lIns="45720" rIns="45720" tIns="18288" bIns="18288" anchor="t">
            <a:spAutoFit/>
          </a:bodyPr>
          <a:lstStyle/>
          <a:p>
            <a:pPr algn="l">
              <a:spcAft>
                <a:spcPts val="200"/>
              </a:spcAft>
            </a:pPr>
            <a:r>
              <a:rPr sz="1500" b="1">
                <a:solidFill>
                  <a:srgbClr val="1F2937"/>
                </a:solidFill>
                <a:latin typeface="Calibri"/>
              </a:rPr>
              <a:t>A field rep tops it up during a planned visit</a:t>
            </a:r>
          </a:p>
          <a:p>
            <a:pPr algn="l">
              <a:spcAft>
                <a:spcPts val="0"/>
              </a:spcAft>
            </a:pPr>
            <a:r>
              <a:rPr sz="1100" b="0">
                <a:solidFill>
                  <a:srgbClr val="6B7280"/>
                </a:solidFill>
                <a:latin typeface="Calibri"/>
              </a:rPr>
              <a:t>Signature on glass, route updates in realtime.</a:t>
            </a:r>
          </a:p>
        </p:txBody>
      </p:sp>
      <p:sp>
        <p:nvSpPr>
          <p:cNvPr id="11" name="Oval 10"/>
          <p:cNvSpPr/>
          <p:nvPr/>
        </p:nvSpPr>
        <p:spPr>
          <a:xfrm>
            <a:off x="548640" y="4754880"/>
            <a:ext cx="640080" cy="640080"/>
          </a:xfrm>
          <a:prstGeom prst="ellipse">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28032"/>
            <a:ext cx="640080" cy="502920"/>
          </a:xfrm>
          <a:prstGeom prst="rect">
            <a:avLst/>
          </a:prstGeom>
          <a:noFill/>
        </p:spPr>
        <p:txBody>
          <a:bodyPr wrap="square" lIns="45720" rIns="45720" tIns="18288" bIns="18288" anchor="t">
            <a:spAutoFit/>
          </a:bodyPr>
          <a:lstStyle/>
          <a:p>
            <a:pPr algn="ctr">
              <a:spcAft>
                <a:spcPts val="400"/>
              </a:spcAft>
            </a:pPr>
            <a:r>
              <a:rPr sz="1600" b="1">
                <a:solidFill>
                  <a:srgbClr val="FFFFFF"/>
                </a:solidFill>
                <a:latin typeface="Calibri"/>
              </a:rPr>
              <a:t>03</a:t>
            </a:r>
          </a:p>
        </p:txBody>
      </p:sp>
      <p:sp>
        <p:nvSpPr>
          <p:cNvPr id="13" name="TextBox 12"/>
          <p:cNvSpPr txBox="1"/>
          <p:nvPr/>
        </p:nvSpPr>
        <p:spPr>
          <a:xfrm>
            <a:off x="1463040" y="4709160"/>
            <a:ext cx="5943600" cy="1051560"/>
          </a:xfrm>
          <a:prstGeom prst="rect">
            <a:avLst/>
          </a:prstGeom>
          <a:noFill/>
        </p:spPr>
        <p:txBody>
          <a:bodyPr wrap="square" lIns="45720" rIns="45720" tIns="18288" bIns="18288" anchor="t">
            <a:spAutoFit/>
          </a:bodyPr>
          <a:lstStyle/>
          <a:p>
            <a:pPr algn="l">
              <a:spcAft>
                <a:spcPts val="200"/>
              </a:spcAft>
            </a:pPr>
            <a:r>
              <a:rPr sz="1500" b="1">
                <a:solidFill>
                  <a:srgbClr val="1F2937"/>
                </a:solidFill>
                <a:latin typeface="Calibri"/>
              </a:rPr>
              <a:t>The back office sees both orders the moment they land</a:t>
            </a:r>
          </a:p>
          <a:p>
            <a:pPr algn="l">
              <a:spcAft>
                <a:spcPts val="0"/>
              </a:spcAft>
            </a:pPr>
            <a:r>
              <a:rPr sz="1100" b="0">
                <a:solidFill>
                  <a:srgbClr val="6B7280"/>
                </a:solidFill>
                <a:latin typeface="Calibri"/>
              </a:rPr>
              <a:t>Confirms, packs, and audits — no refresh required.</a:t>
            </a:r>
          </a:p>
        </p:txBody>
      </p:sp>
      <p:sp>
        <p:nvSpPr>
          <p:cNvPr id="14" name="Rounded Rectangle 13"/>
          <p:cNvSpPr/>
          <p:nvPr/>
        </p:nvSpPr>
        <p:spPr>
          <a:xfrm>
            <a:off x="7863840" y="2377440"/>
            <a:ext cx="3749039" cy="3429000"/>
          </a:xfrm>
          <a:prstGeom prst="roundRect">
            <a:avLst>
              <a:gd name="adj" fmla="val 6000"/>
            </a:avLst>
          </a:prstGeom>
          <a:solidFill>
            <a:srgbClr val="1F293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651760"/>
            <a:ext cx="3200399" cy="2880360"/>
          </a:xfrm>
          <a:prstGeom prst="rect">
            <a:avLst/>
          </a:prstGeom>
          <a:noFill/>
        </p:spPr>
        <p:txBody>
          <a:bodyPr wrap="square" lIns="45720" rIns="45720" tIns="18288" bIns="18288" anchor="t">
            <a:spAutoFit/>
          </a:bodyPr>
          <a:lstStyle/>
          <a:p>
            <a:pPr algn="l">
              <a:spcAft>
                <a:spcPts val="1000"/>
              </a:spcAft>
            </a:pPr>
            <a:r>
              <a:rPr sz="1100" b="1">
                <a:solidFill>
                  <a:srgbClr val="0EA5E9"/>
                </a:solidFill>
                <a:latin typeface="Calibri"/>
              </a:rPr>
              <a:t>NEXT STEPS</a:t>
            </a:r>
          </a:p>
          <a:p>
            <a:pPr algn="l">
              <a:spcAft>
                <a:spcPts val="200"/>
              </a:spcAft>
            </a:pPr>
            <a:r>
              <a:rPr sz="1400" b="1">
                <a:solidFill>
                  <a:srgbClr val="FFFFFF"/>
                </a:solidFill>
                <a:latin typeface="Calibri"/>
              </a:rPr>
              <a:t>1.  Sandbox account</a:t>
            </a:r>
          </a:p>
          <a:p>
            <a:pPr algn="l">
              <a:spcAft>
                <a:spcPts val="1200"/>
              </a:spcAft>
            </a:pPr>
            <a:r>
              <a:rPr sz="1000" b="0">
                <a:solidFill>
                  <a:srgbClr val="E5E7EB"/>
                </a:solidFill>
                <a:latin typeface="Calibri"/>
              </a:rPr>
              <a:t>Your team logs in within 24 hours.</a:t>
            </a:r>
          </a:p>
          <a:p>
            <a:pPr algn="l">
              <a:spcAft>
                <a:spcPts val="200"/>
              </a:spcAft>
            </a:pPr>
            <a:r>
              <a:rPr sz="1400" b="1">
                <a:solidFill>
                  <a:srgbClr val="FFFFFF"/>
                </a:solidFill>
                <a:latin typeface="Calibri"/>
              </a:rPr>
              <a:t>2.  Scoping call</a:t>
            </a:r>
          </a:p>
          <a:p>
            <a:pPr algn="l">
              <a:spcAft>
                <a:spcPts val="1200"/>
              </a:spcAft>
            </a:pPr>
            <a:r>
              <a:rPr sz="1000" b="0">
                <a:solidFill>
                  <a:srgbClr val="E5E7EB"/>
                </a:solidFill>
                <a:latin typeface="Calibri"/>
              </a:rPr>
              <a:t>Map your channels, tiers, and promos.</a:t>
            </a:r>
          </a:p>
          <a:p>
            <a:pPr algn="l">
              <a:spcAft>
                <a:spcPts val="200"/>
              </a:spcAft>
            </a:pPr>
            <a:r>
              <a:rPr sz="1400" b="1">
                <a:solidFill>
                  <a:srgbClr val="FFFFFF"/>
                </a:solidFill>
                <a:latin typeface="Calibri"/>
              </a:rPr>
              <a:t>3.  Rollout plan</a:t>
            </a:r>
          </a:p>
          <a:p>
            <a:pPr algn="l">
              <a:spcAft>
                <a:spcPts val="0"/>
              </a:spcAft>
            </a:pPr>
            <a:r>
              <a:rPr sz="1000" b="0">
                <a:solidFill>
                  <a:srgbClr val="E5E7EB"/>
                </a:solidFill>
                <a:latin typeface="Calibri"/>
              </a:rPr>
              <a:t>Pilot with one branch, then scale.</a:t>
            </a:r>
          </a:p>
        </p:txBody>
      </p:sp>
      <p:sp>
        <p:nvSpPr>
          <p:cNvPr id="16" name="TextBox 15"/>
          <p:cNvSpPr txBox="1"/>
          <p:nvPr/>
        </p:nvSpPr>
        <p:spPr>
          <a:xfrm>
            <a:off x="548640" y="6080760"/>
            <a:ext cx="11064240" cy="365760"/>
          </a:xfrm>
          <a:prstGeom prst="rect">
            <a:avLst/>
          </a:prstGeom>
          <a:noFill/>
        </p:spPr>
        <p:txBody>
          <a:bodyPr wrap="square" lIns="45720" rIns="45720" tIns="18288" bIns="18288" anchor="t">
            <a:spAutoFit/>
          </a:bodyPr>
          <a:lstStyle/>
          <a:p>
            <a:pPr algn="ctr">
              <a:spcAft>
                <a:spcPts val="400"/>
              </a:spcAft>
            </a:pPr>
            <a:r>
              <a:rPr sz="1100" b="1">
                <a:solidFill>
                  <a:srgbClr val="0EA5E9"/>
                </a:solidFill>
                <a:latin typeface="Calibri"/>
              </a:rPr>
              <a:t>nexorder.vercel.app   •   contact: hello@nexorder.app</a:t>
            </a:r>
          </a:p>
        </p:txBody>
      </p:sp>
      <p:sp>
        <p:nvSpPr>
          <p:cNvPr id="17" name="TextBox 16"/>
          <p:cNvSpPr txBox="1"/>
          <p:nvPr/>
        </p:nvSpPr>
        <p:spPr>
          <a:xfrm>
            <a:off x="548640" y="6446520"/>
            <a:ext cx="11064240" cy="320040"/>
          </a:xfrm>
          <a:prstGeom prst="rect">
            <a:avLst/>
          </a:prstGeom>
          <a:noFill/>
        </p:spPr>
        <p:txBody>
          <a:bodyPr wrap="square" lIns="45720" rIns="45720" tIns="18288" bIns="18288" anchor="t">
            <a:spAutoFit/>
          </a:bodyPr>
          <a:lstStyle/>
          <a:p>
            <a:pPr algn="l">
              <a:spcAft>
                <a:spcPts val="400"/>
              </a:spcAft>
            </a:pPr>
            <a:r>
              <a:rPr sz="900" b="0">
                <a:solidFill>
                  <a:srgbClr val="6B7280"/>
                </a:solidFill>
                <a:latin typeface="Calibri"/>
              </a:rPr>
              <a:t>Nex Order   •   Live demo   •   Page 6 of 6</a:t>
            </a:r>
          </a:p>
        </p:txBody>
      </p:sp>
      <p:cxnSp>
        <p:nvCxnSpPr>
          <p:cNvPr id="18" name="Connector 17"/>
          <p:cNvCxnSpPr/>
          <p:nvPr/>
        </p:nvCxnSpPr>
        <p:spPr>
          <a:xfrm>
            <a:off x="548640" y="6400800"/>
            <a:ext cx="11064240"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